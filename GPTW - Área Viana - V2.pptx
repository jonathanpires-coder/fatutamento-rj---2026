
<file path=[Content_Types].xml><?xml version="1.0" encoding="utf-8"?>
<Types xmlns="http://schemas.openxmlformats.org/package/2006/content-types">
  <Default Extension="png" ContentType="image/png"/>
  <Default Extension="webm" ContentType="video/webm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slideLayouts/slideLayout4.xml" ContentType="application/vnd.openxmlformats-officedocument.presentationml.slideLayout+xml"/>
  <Override PartName="/ppt/theme/theme4.xml" ContentType="application/vnd.openxmlformats-officedocument.theme+xml"/>
  <Override PartName="/ppt/slideLayouts/slideLayout5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  <p:sldMasterId id="2147483651" r:id="rId2"/>
    <p:sldMasterId id="2147483691" r:id="rId3"/>
    <p:sldMasterId id="2147483675" r:id="rId4"/>
    <p:sldMasterId id="2147483689" r:id="rId5"/>
  </p:sldMasterIdLst>
  <p:notesMasterIdLst>
    <p:notesMasterId r:id="rId20"/>
  </p:notesMasterIdLst>
  <p:sldIdLst>
    <p:sldId id="401" r:id="rId6"/>
    <p:sldId id="423" r:id="rId7"/>
    <p:sldId id="404" r:id="rId8"/>
    <p:sldId id="405" r:id="rId9"/>
    <p:sldId id="406" r:id="rId10"/>
    <p:sldId id="407" r:id="rId11"/>
    <p:sldId id="408" r:id="rId12"/>
    <p:sldId id="411" r:id="rId13"/>
    <p:sldId id="415" r:id="rId14"/>
    <p:sldId id="418" r:id="rId15"/>
    <p:sldId id="420" r:id="rId16"/>
    <p:sldId id="421" r:id="rId17"/>
    <p:sldId id="422" r:id="rId18"/>
    <p:sldId id="416" r:id="rId19"/>
  </p:sldIdLst>
  <p:sldSz cx="12192000" cy="6858000"/>
  <p:notesSz cx="6797675" cy="9926638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0D44B"/>
    <a:srgbClr val="151618"/>
    <a:srgbClr val="9BDFC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434" autoAdjust="0"/>
  </p:normalViewPr>
  <p:slideViewPr>
    <p:cSldViewPr snapToGrid="0">
      <p:cViewPr varScale="1">
        <p:scale>
          <a:sx n="78" d="100"/>
          <a:sy n="78" d="100"/>
        </p:scale>
        <p:origin x="216" y="64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3" Type="http://schemas.openxmlformats.org/officeDocument/2006/relationships/slideMaster" Target="slideMasters/slideMaster3.xml"/><Relationship Id="rId21" Type="http://schemas.openxmlformats.org/officeDocument/2006/relationships/presProps" Target="presProp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1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tableStyles" Target="tableStyle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10.xml"/><Relationship Id="rId23" Type="http://schemas.openxmlformats.org/officeDocument/2006/relationships/theme" Target="theme/theme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2945406" cy="497333"/>
          </a:xfrm>
          <a:prstGeom prst="rect">
            <a:avLst/>
          </a:prstGeom>
        </p:spPr>
        <p:txBody>
          <a:bodyPr vert="horz" lIns="88194" tIns="44097" rIns="88194" bIns="44097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50750" y="1"/>
            <a:ext cx="2945405" cy="497333"/>
          </a:xfrm>
          <a:prstGeom prst="rect">
            <a:avLst/>
          </a:prstGeom>
        </p:spPr>
        <p:txBody>
          <a:bodyPr vert="horz" lIns="88194" tIns="44097" rIns="88194" bIns="44097" rtlCol="0"/>
          <a:lstStyle>
            <a:lvl1pPr algn="r">
              <a:defRPr sz="1200"/>
            </a:lvl1pPr>
          </a:lstStyle>
          <a:p>
            <a:fld id="{C10D40A0-D5C7-4A8A-8A6F-6CB4FF7D7D39}" type="datetimeFigureOut">
              <a:rPr lang="pt-BR" smtClean="0"/>
              <a:t>05/08/2026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4713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88194" tIns="44097" rIns="88194" bIns="44097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0527" y="4777782"/>
            <a:ext cx="5438140" cy="3907834"/>
          </a:xfrm>
          <a:prstGeom prst="rect">
            <a:avLst/>
          </a:prstGeom>
        </p:spPr>
        <p:txBody>
          <a:bodyPr vert="horz" lIns="88194" tIns="44097" rIns="88194" bIns="44097" rtlCol="0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1" y="9429305"/>
            <a:ext cx="2945406" cy="497333"/>
          </a:xfrm>
          <a:prstGeom prst="rect">
            <a:avLst/>
          </a:prstGeom>
        </p:spPr>
        <p:txBody>
          <a:bodyPr vert="horz" lIns="88194" tIns="44097" rIns="88194" bIns="44097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50750" y="9429305"/>
            <a:ext cx="2945405" cy="497333"/>
          </a:xfrm>
          <a:prstGeom prst="rect">
            <a:avLst/>
          </a:prstGeom>
        </p:spPr>
        <p:txBody>
          <a:bodyPr vert="horz" lIns="88194" tIns="44097" rIns="88194" bIns="44097" rtlCol="0" anchor="b"/>
          <a:lstStyle>
            <a:lvl1pPr algn="r">
              <a:defRPr sz="1200"/>
            </a:lvl1pPr>
          </a:lstStyle>
          <a:p>
            <a:fld id="{9F4FFE59-62F5-4476-ABA8-3C6A420FA3E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039435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o de Anotacoe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ABERTURA (2 min). Cumprimente o time pelo nome, agradeca a presenca e diga quanto tempo vai durar.</a:t>
            </a:r>
          </a:p>
          <a:p>
            <a:r>
              <a:rPr lang="pt-BR" dirty="0"/>
              <a:t>Frase de abertura sugerida: 'Hoje nao vim apresentar numero. Vim ouvir e explicar uma coisa que depende de voces.'</a:t>
            </a:r>
          </a:p>
          <a:p>
            <a:r>
              <a:rPr lang="pt-BR" dirty="0"/>
              <a:t>Deixe claro desde o inicio: ninguem sera cobrado pelo que responder na pesquisa.</a:t>
            </a:r>
          </a:p>
          <a:p>
            <a:r>
              <a:rPr lang="pt-BR" dirty="0"/>
              <a:t>Confirme antes: nome da filial, data da janela de resposta e canal oficial de envio do link.</a:t>
            </a:r>
          </a:p>
        </p:txBody>
      </p:sp>
    </p:spTree>
    <p:extLst>
      <p:ext uri="{BB962C8B-B14F-4D97-AF65-F5344CB8AC3E}">
        <p14:creationId xmlns:p14="http://schemas.microsoft.com/office/powerpoint/2010/main" val="3940006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o de Anotacoe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SIGILO (4 min). Este e o slide mais importante da sessao para uma equipe de operacao.</a:t>
            </a:r>
          </a:p>
          <a:p>
            <a:r>
              <a:rPr lang="pt-BR" dirty="0"/>
              <a:t>Fale devagar e pergunte diretamente: 'alguem aqui tem receio de que a resposta volte contra a pessoa?'. Deixe o silencio trabalhar.</a:t>
            </a:r>
          </a:p>
          <a:p>
            <a:r>
              <a:rPr lang="pt-BR" dirty="0"/>
              <a:t>Nunca prometa um numero minimo de participantes por grupo sem confirmar antes com o RH qual e a regra usada.</a:t>
            </a:r>
          </a:p>
          <a:p>
            <a:r>
              <a:rPr lang="pt-BR" dirty="0"/>
              <a:t>Se a lideranca da filial estiver na sala, peca que ela mesma diga a frase: 'eu nao vou perguntar o que voces responderam'.</a:t>
            </a:r>
          </a:p>
        </p:txBody>
      </p:sp>
    </p:spTree>
    <p:extLst>
      <p:ext uri="{BB962C8B-B14F-4D97-AF65-F5344CB8AC3E}">
        <p14:creationId xmlns:p14="http://schemas.microsoft.com/office/powerpoint/2010/main" val="149210513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o de Anotacoe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CONCEITO (4 min). Evite jargao de RH. Use a palavra 'confianca', nao 'clima organizacional'.</a:t>
            </a:r>
          </a:p>
          <a:p>
            <a:r>
              <a:rPr lang="pt-BR" dirty="0"/>
              <a:t>O corte de 70% de respostas favoraveis no Trust Index e o criterio geral de certificacao do GPTW no Brasil.</a:t>
            </a:r>
          </a:p>
          <a:p>
            <a:r>
              <a:rPr lang="pt-BR" dirty="0"/>
              <a:t>Abaixo de 70% a empresa nao e certificada, mas recebe o relatorio com os pontos de atencao.</a:t>
            </a:r>
          </a:p>
          <a:p>
            <a:r>
              <a:rPr lang="pt-BR" dirty="0"/>
              <a:t>Se perguntarem sobre o selo: explique que o Trust Index (pesquisa com as pessoas) e o principal instrumento, e que ha tambem questionarios respondidos pela empresa sobre praticas de gestao.</a:t>
            </a:r>
          </a:p>
        </p:txBody>
      </p:sp>
    </p:spTree>
    <p:extLst>
      <p:ext uri="{BB962C8B-B14F-4D97-AF65-F5344CB8AC3E}">
        <p14:creationId xmlns:p14="http://schemas.microsoft.com/office/powerpoint/2010/main" val="39787513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o de Anotacoe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POR QUE IMPORTA (4 min). Aqui e onde o time decide se vale a pena responder. Traga exemplos reais da filial.</a:t>
            </a:r>
          </a:p>
          <a:p>
            <a:r>
              <a:rPr lang="pt-BR" dirty="0"/>
              <a:t>Se houver alguma melhoria recente que nasceu de reclamacao do time, cite pelo nome. Isso vale mais que qualquer slide.</a:t>
            </a:r>
          </a:p>
          <a:p>
            <a:r>
              <a:rPr lang="pt-BR" dirty="0"/>
              <a:t>Evite prometer o que nao esta na sua alcada. Prometa processo, nao resultado.</a:t>
            </a:r>
          </a:p>
        </p:txBody>
      </p:sp>
    </p:spTree>
    <p:extLst>
      <p:ext uri="{BB962C8B-B14F-4D97-AF65-F5344CB8AC3E}">
        <p14:creationId xmlns:p14="http://schemas.microsoft.com/office/powerpoint/2010/main" val="18399437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o de Anotacoe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COMO FUNCIONA (4 min). Vá devagar na etapa 3: e a que mais gera duvida.</a:t>
            </a:r>
          </a:p>
          <a:p>
            <a:r>
              <a:rPr lang="pt-BR" dirty="0"/>
              <a:t>Confirme com o RH antes: numero exato de afirmativas, tempo medio e se o link chega por e-mail, QR code ou aplicativo.</a:t>
            </a:r>
          </a:p>
          <a:p>
            <a:r>
              <a:rPr lang="pt-BR" dirty="0"/>
              <a:t>A pesquisa Trust Index tem cerca de 60 afirmativas centrais, mais questoes de perfil e campos abertos.</a:t>
            </a:r>
          </a:p>
          <a:p>
            <a:r>
              <a:rPr lang="pt-BR" dirty="0"/>
              <a:t>Combine em voz alta como o time vai responder: celular proprio, tablet da filial ou computador da administracao.</a:t>
            </a:r>
          </a:p>
        </p:txBody>
      </p:sp>
    </p:spTree>
    <p:extLst>
      <p:ext uri="{BB962C8B-B14F-4D97-AF65-F5344CB8AC3E}">
        <p14:creationId xmlns:p14="http://schemas.microsoft.com/office/powerpoint/2010/main" val="368056101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o de Anotacoe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SIGILO (4 min). Este e o slide mais importante da sessao para uma equipe de operacao.</a:t>
            </a:r>
          </a:p>
          <a:p>
            <a:r>
              <a:rPr lang="pt-BR" dirty="0"/>
              <a:t>Fale devagar e pergunte diretamente: 'alguem aqui tem receio de que a resposta volte contra a pessoa?'. Deixe o silencio trabalhar.</a:t>
            </a:r>
          </a:p>
          <a:p>
            <a:r>
              <a:rPr lang="pt-BR" dirty="0"/>
              <a:t>Nunca prometa um numero minimo de participantes por grupo sem confirmar antes com o RH qual e a regra usada.</a:t>
            </a:r>
          </a:p>
          <a:p>
            <a:r>
              <a:rPr lang="pt-BR" dirty="0"/>
              <a:t>Se a lideranca da filial estiver na sala, peca que ela mesma diga a frase: 'eu nao vou perguntar o que voces responderam'.</a:t>
            </a:r>
          </a:p>
        </p:txBody>
      </p:sp>
    </p:spTree>
    <p:extLst>
      <p:ext uri="{BB962C8B-B14F-4D97-AF65-F5344CB8AC3E}">
        <p14:creationId xmlns:p14="http://schemas.microsoft.com/office/powerpoint/2010/main" val="47972471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o de Anotacoe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OS 5 PILARES (4 min). Leia cada pilar e peca um exemplo do proprio time antes de passar para o proximo.</a:t>
            </a:r>
          </a:p>
          <a:p>
            <a:r>
              <a:rPr lang="pt-BR" dirty="0"/>
              <a:t>Credibilidade, Respeito e Imparcialidade falam da relacao com a lideranca e com as regras. Orgulho fala do trabalho. Camaradagem fala do time.</a:t>
            </a:r>
          </a:p>
          <a:p>
            <a:r>
              <a:rPr lang="pt-BR" dirty="0"/>
              <a:t>Nao decore a definicao oficial: traduza para a linguagem do estacionamento. O proximo slide faz exatamente isso.</a:t>
            </a:r>
          </a:p>
        </p:txBody>
      </p:sp>
    </p:spTree>
    <p:extLst>
      <p:ext uri="{BB962C8B-B14F-4D97-AF65-F5344CB8AC3E}">
        <p14:creationId xmlns:p14="http://schemas.microsoft.com/office/powerpoint/2010/main" val="103278868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o de Anotacoe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MITOS E VERDADES (5 min). Leia o mito com a voz do time, nao com a voz da empresa. Isso gera identificacao.</a:t>
            </a:r>
          </a:p>
          <a:p>
            <a:r>
              <a:rPr lang="pt-BR" dirty="0"/>
              <a:t>Pergunte: 'quem ja pensou isso?'. Levantar a mao aqui e normal e ajuda a quebrar a resistencia.</a:t>
            </a:r>
          </a:p>
          <a:p>
            <a:r>
              <a:rPr lang="pt-BR" dirty="0"/>
              <a:t>Se alguem trouxer um mito que nao esta na lista, anote no flip e responda com honestidade. 'Nao sei' e uma resposta valida.</a:t>
            </a:r>
          </a:p>
        </p:txBody>
      </p:sp>
    </p:spTree>
    <p:extLst>
      <p:ext uri="{BB962C8B-B14F-4D97-AF65-F5344CB8AC3E}">
        <p14:creationId xmlns:p14="http://schemas.microsoft.com/office/powerpoint/2010/main" val="323277753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o de Anotacoe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FECHAMENTO (2 min). Termine em pe, na frente do grupo, sem slide na mao.</a:t>
            </a:r>
          </a:p>
          <a:p>
            <a:r>
              <a:rPr lang="pt-BR" dirty="0"/>
              <a:t>Repita as duas informacoes praticas: quando o link chega e ate quando responder.</a:t>
            </a:r>
          </a:p>
          <a:p>
            <a:r>
              <a:rPr lang="pt-BR" dirty="0"/>
              <a:t>Diga quem procurar em caso de duvida, com nome e nao apenas com o cargo.</a:t>
            </a:r>
          </a:p>
          <a:p>
            <a:r>
              <a:rPr lang="pt-BR" dirty="0"/>
              <a:t>Agradeca nominalmente quem participou das dinamicas. Reconhecimento na hora vale mais do que no relatorio.</a:t>
            </a:r>
          </a:p>
        </p:txBody>
      </p:sp>
    </p:spTree>
    <p:extLst>
      <p:ext uri="{BB962C8B-B14F-4D97-AF65-F5344CB8AC3E}">
        <p14:creationId xmlns:p14="http://schemas.microsoft.com/office/powerpoint/2010/main" val="393704215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o de Anotacoe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SIGILO (4 min). Este e o slide mais importante da sessao para uma equipe de operacao.</a:t>
            </a:r>
          </a:p>
          <a:p>
            <a:r>
              <a:rPr lang="pt-BR" dirty="0"/>
              <a:t>Fale devagar e pergunte diretamente: 'alguem aqui tem receio de que a resposta volte contra a pessoa?'. Deixe o silencio trabalhar.</a:t>
            </a:r>
          </a:p>
          <a:p>
            <a:r>
              <a:rPr lang="pt-BR" dirty="0"/>
              <a:t>Nunca prometa um numero minimo de participantes por grupo sem confirmar antes com o RH qual e a regra usada.</a:t>
            </a:r>
          </a:p>
          <a:p>
            <a:r>
              <a:rPr lang="pt-BR" dirty="0"/>
              <a:t>Se a lideranca da filial estiver na sala, peca que ela mesma diga a frase: 'eu nao vou perguntar o que voces responderam'.</a:t>
            </a:r>
          </a:p>
        </p:txBody>
      </p:sp>
    </p:spTree>
    <p:extLst>
      <p:ext uri="{BB962C8B-B14F-4D97-AF65-F5344CB8AC3E}">
        <p14:creationId xmlns:p14="http://schemas.microsoft.com/office/powerpoint/2010/main" val="289270960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o de Anotacoe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FECHAMENTO (2 min). Termine em pe, na frente do grupo, sem slide na mao.</a:t>
            </a:r>
          </a:p>
          <a:p>
            <a:r>
              <a:rPr lang="pt-BR" dirty="0"/>
              <a:t>Repita as duas informacoes praticas: quando o link chega e ate quando responder.</a:t>
            </a:r>
          </a:p>
          <a:p>
            <a:r>
              <a:rPr lang="pt-BR" dirty="0"/>
              <a:t>Diga quem procurar em caso de duvida, com nome e nao apenas com o cargo.</a:t>
            </a:r>
          </a:p>
          <a:p>
            <a:r>
              <a:rPr lang="pt-BR" dirty="0"/>
              <a:t>Agradeca nominalmente quem participou das dinamicas. Reconhecimento na hora vale mais do que no relatorio.</a:t>
            </a:r>
          </a:p>
        </p:txBody>
      </p:sp>
    </p:spTree>
    <p:extLst>
      <p:ext uri="{BB962C8B-B14F-4D97-AF65-F5344CB8AC3E}">
        <p14:creationId xmlns:p14="http://schemas.microsoft.com/office/powerpoint/2010/main" val="213645365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o de Anotacoe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SIGILO (4 min). Este e o slide mais importante da sessao para uma equipe de operacao.</a:t>
            </a:r>
          </a:p>
          <a:p>
            <a:r>
              <a:rPr lang="pt-BR" dirty="0"/>
              <a:t>Fale devagar e pergunte diretamente: 'alguem aqui tem receio de que a resposta volte contra a pessoa?'. Deixe o silencio trabalhar.</a:t>
            </a:r>
          </a:p>
          <a:p>
            <a:r>
              <a:rPr lang="pt-BR" dirty="0"/>
              <a:t>Nunca prometa um numero minimo de participantes por grupo sem confirmar antes com o RH qual e a regra usada.</a:t>
            </a:r>
          </a:p>
          <a:p>
            <a:r>
              <a:rPr lang="pt-BR" dirty="0"/>
              <a:t>Se a lideranca da filial estiver na sala, peca que ela mesma diga a frase: 'eu nao vou perguntar o que voces responderam'.</a:t>
            </a:r>
          </a:p>
        </p:txBody>
      </p:sp>
    </p:spTree>
    <p:extLst>
      <p:ext uri="{BB962C8B-B14F-4D97-AF65-F5344CB8AC3E}">
        <p14:creationId xmlns:p14="http://schemas.microsoft.com/office/powerpoint/2010/main" val="10012184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081484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215193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11439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617733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875668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eg"/><Relationship Id="rId4" Type="http://schemas.openxmlformats.org/officeDocument/2006/relationships/image" Target="../media/image5.png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.png"/><Relationship Id="rId4" Type="http://schemas.openxmlformats.org/officeDocument/2006/relationships/image" Target="../media/image8.png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6.jpeg"/><Relationship Id="rId4" Type="http://schemas.openxmlformats.org/officeDocument/2006/relationships/image" Target="../media/image5.png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9" y="6178"/>
            <a:ext cx="12194760" cy="6851822"/>
          </a:xfrm>
          <a:prstGeom prst="rect">
            <a:avLst/>
          </a:prstGeom>
        </p:spPr>
      </p:pic>
      <p:sp>
        <p:nvSpPr>
          <p:cNvPr id="20" name="Retângulo 19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51618">
              <a:alpha val="8509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24" name="Imagem 23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06096" y="0"/>
            <a:ext cx="6422397" cy="6860720"/>
          </a:xfrm>
          <a:prstGeom prst="rect">
            <a:avLst/>
          </a:prstGeom>
        </p:spPr>
      </p:pic>
      <p:pic>
        <p:nvPicPr>
          <p:cNvPr id="9" name="Imagem 8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7038" y="5361604"/>
            <a:ext cx="3822315" cy="14963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21994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85200" y="4387900"/>
            <a:ext cx="3606800" cy="2463800"/>
          </a:xfrm>
          <a:prstGeom prst="rect">
            <a:avLst/>
          </a:prstGeom>
        </p:spPr>
      </p:pic>
      <p:pic>
        <p:nvPicPr>
          <p:cNvPr id="8" name="Imagem 7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521200"/>
            <a:ext cx="699150" cy="2336800"/>
          </a:xfrm>
          <a:prstGeom prst="rect">
            <a:avLst/>
          </a:prstGeom>
        </p:spPr>
      </p:pic>
      <p:pic>
        <p:nvPicPr>
          <p:cNvPr id="3" name="Imagem 2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2266" y="301584"/>
            <a:ext cx="1674000" cy="428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69476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0" y="0"/>
            <a:ext cx="12189180" cy="6858000"/>
          </a:xfrm>
          <a:prstGeom prst="rect">
            <a:avLst/>
          </a:prstGeom>
        </p:spPr>
      </p:pic>
      <p:sp>
        <p:nvSpPr>
          <p:cNvPr id="8" name="Retângulo 7"/>
          <p:cNvSpPr/>
          <p:nvPr userDrawn="1"/>
        </p:nvSpPr>
        <p:spPr>
          <a:xfrm>
            <a:off x="2820" y="-1"/>
            <a:ext cx="12192000" cy="6858000"/>
          </a:xfrm>
          <a:prstGeom prst="rect">
            <a:avLst/>
          </a:prstGeom>
          <a:solidFill>
            <a:srgbClr val="151618">
              <a:alpha val="8509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0" name="Imagem 9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3400" y="1676400"/>
            <a:ext cx="8174252" cy="5181600"/>
          </a:xfrm>
          <a:prstGeom prst="rect">
            <a:avLst/>
          </a:prstGeom>
        </p:spPr>
      </p:pic>
      <p:pic>
        <p:nvPicPr>
          <p:cNvPr id="5" name="Imagem 4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7038" y="5361604"/>
            <a:ext cx="3822315" cy="14963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74389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95309" y="4394200"/>
            <a:ext cx="3606800" cy="2463800"/>
          </a:xfrm>
          <a:prstGeom prst="rect">
            <a:avLst/>
          </a:prstGeom>
        </p:spPr>
      </p:pic>
      <p:pic>
        <p:nvPicPr>
          <p:cNvPr id="8" name="Imagem 7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521200"/>
            <a:ext cx="699150" cy="2336800"/>
          </a:xfrm>
          <a:prstGeom prst="rect">
            <a:avLst/>
          </a:prstGeom>
        </p:spPr>
      </p:pic>
      <p:pic>
        <p:nvPicPr>
          <p:cNvPr id="42" name="Imagem 41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2266" y="301584"/>
            <a:ext cx="1674000" cy="428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60047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9" y="6178"/>
            <a:ext cx="12194760" cy="6851822"/>
          </a:xfrm>
          <a:prstGeom prst="rect">
            <a:avLst/>
          </a:prstGeom>
        </p:spPr>
      </p:pic>
      <p:sp>
        <p:nvSpPr>
          <p:cNvPr id="88" name="Retângulo 87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51618">
              <a:alpha val="8509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90" name="Imagem 89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438" y="5361604"/>
            <a:ext cx="3822315" cy="1496396"/>
          </a:xfrm>
          <a:prstGeom prst="rect">
            <a:avLst/>
          </a:prstGeom>
        </p:spPr>
      </p:pic>
      <p:pic>
        <p:nvPicPr>
          <p:cNvPr id="91" name="Imagem 90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06096" y="0"/>
            <a:ext cx="6422397" cy="6860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95297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webm"/><Relationship Id="rId1" Type="http://schemas.microsoft.com/office/2007/relationships/media" Target="../media/media1.webm"/><Relationship Id="rId5" Type="http://schemas.openxmlformats.org/officeDocument/2006/relationships/image" Target="../media/image9.png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txt101"/>
          <p:cNvSpPr txBox="1"/>
          <p:nvPr/>
        </p:nvSpPr>
        <p:spPr>
          <a:xfrm>
            <a:off x="804672" y="1389888"/>
            <a:ext cx="4206240" cy="29260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b="1" i="0" cap="all" spc="170" dirty="0">
                <a:solidFill>
                  <a:srgbClr val="6FD44B"/>
                </a:solidFill>
                <a:latin typeface="Calibri"/>
                <a:cs typeface="Calibri"/>
              </a:rPr>
              <a:t>Encontro de engajamento</a:t>
            </a:r>
          </a:p>
        </p:txBody>
      </p:sp>
      <p:sp>
        <p:nvSpPr>
          <p:cNvPr id="104" name="txt103"/>
          <p:cNvSpPr txBox="1"/>
          <p:nvPr/>
        </p:nvSpPr>
        <p:spPr>
          <a:xfrm>
            <a:off x="804671" y="2325037"/>
            <a:ext cx="5371045" cy="169164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500" b="1" i="0" dirty="0" smtClean="0">
                <a:solidFill>
                  <a:srgbClr val="FFFFFF"/>
                </a:solidFill>
                <a:latin typeface="Calibri"/>
                <a:cs typeface="Calibri"/>
              </a:rPr>
              <a:t>Reunião Operacional</a:t>
            </a:r>
            <a:endParaRPr lang="pt-BR" sz="4500" b="1" i="0" dirty="0">
              <a:solidFill>
                <a:srgbClr val="FFFFFF"/>
              </a:solidFill>
              <a:latin typeface="Calibri"/>
              <a:cs typeface="Calibri"/>
            </a:endParaRPr>
          </a:p>
        </p:txBody>
      </p:sp>
      <p:sp>
        <p:nvSpPr>
          <p:cNvPr id="106" name="txt105"/>
          <p:cNvSpPr txBox="1"/>
          <p:nvPr/>
        </p:nvSpPr>
        <p:spPr>
          <a:xfrm>
            <a:off x="804671" y="3824653"/>
            <a:ext cx="4206240" cy="38404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 smtClean="0">
                <a:solidFill>
                  <a:srgbClr val="73E0C1"/>
                </a:solidFill>
                <a:latin typeface="Calibri"/>
                <a:cs typeface="Calibri"/>
              </a:rPr>
              <a:t>Área Anderson Viana</a:t>
            </a:r>
            <a:endParaRPr lang="pt-BR" sz="1600" b="1" i="0" dirty="0">
              <a:solidFill>
                <a:srgbClr val="73E0C1"/>
              </a:solidFill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txt307"/>
          <p:cNvSpPr txBox="1"/>
          <p:nvPr/>
        </p:nvSpPr>
        <p:spPr>
          <a:xfrm>
            <a:off x="388620" y="244049"/>
            <a:ext cx="9052560" cy="71323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200" b="1" dirty="0" smtClean="0">
                <a:solidFill>
                  <a:srgbClr val="151618"/>
                </a:solidFill>
                <a:latin typeface="Calibri"/>
                <a:cs typeface="Calibri"/>
              </a:rPr>
              <a:t>GPTW – </a:t>
            </a:r>
            <a:r>
              <a:rPr lang="pt-BR" sz="3200" b="1" dirty="0" err="1" smtClean="0">
                <a:solidFill>
                  <a:srgbClr val="151618"/>
                </a:solidFill>
                <a:latin typeface="Calibri"/>
                <a:cs typeface="Calibri"/>
              </a:rPr>
              <a:t>Great</a:t>
            </a:r>
            <a:r>
              <a:rPr lang="pt-BR" sz="3200" b="1" dirty="0" smtClean="0">
                <a:solidFill>
                  <a:srgbClr val="151618"/>
                </a:solidFill>
                <a:latin typeface="Calibri"/>
                <a:cs typeface="Calibri"/>
              </a:rPr>
              <a:t> </a:t>
            </a:r>
            <a:r>
              <a:rPr lang="pt-BR" sz="3200" b="1" dirty="0" err="1" smtClean="0">
                <a:solidFill>
                  <a:srgbClr val="151618"/>
                </a:solidFill>
                <a:latin typeface="Calibri"/>
                <a:cs typeface="Calibri"/>
              </a:rPr>
              <a:t>Place</a:t>
            </a:r>
            <a:r>
              <a:rPr lang="pt-BR" sz="3200" b="1" dirty="0" smtClean="0">
                <a:solidFill>
                  <a:srgbClr val="151618"/>
                </a:solidFill>
                <a:latin typeface="Calibri"/>
                <a:cs typeface="Calibri"/>
              </a:rPr>
              <a:t> </a:t>
            </a:r>
            <a:r>
              <a:rPr lang="pt-BR" sz="3200" b="1" dirty="0" err="1" smtClean="0">
                <a:solidFill>
                  <a:srgbClr val="151618"/>
                </a:solidFill>
                <a:latin typeface="Calibri"/>
                <a:cs typeface="Calibri"/>
              </a:rPr>
              <a:t>to</a:t>
            </a:r>
            <a:r>
              <a:rPr lang="pt-BR" sz="3200" b="1" dirty="0" smtClean="0">
                <a:solidFill>
                  <a:srgbClr val="151618"/>
                </a:solidFill>
                <a:latin typeface="Calibri"/>
                <a:cs typeface="Calibri"/>
              </a:rPr>
              <a:t> </a:t>
            </a:r>
            <a:r>
              <a:rPr lang="pt-BR" sz="3200" b="1" dirty="0" err="1" smtClean="0">
                <a:solidFill>
                  <a:srgbClr val="151618"/>
                </a:solidFill>
                <a:latin typeface="Calibri"/>
                <a:cs typeface="Calibri"/>
              </a:rPr>
              <a:t>Work</a:t>
            </a:r>
            <a:endParaRPr lang="pt-BR" sz="3200" b="1" i="0" dirty="0">
              <a:solidFill>
                <a:srgbClr val="151618"/>
              </a:solidFill>
              <a:latin typeface="Calibri"/>
              <a:cs typeface="Calibri"/>
            </a:endParaRPr>
          </a:p>
        </p:txBody>
      </p:sp>
      <p:sp>
        <p:nvSpPr>
          <p:cNvPr id="328" name="txt327"/>
          <p:cNvSpPr txBox="1"/>
          <p:nvPr/>
        </p:nvSpPr>
        <p:spPr>
          <a:xfrm>
            <a:off x="7178040" y="2066544"/>
            <a:ext cx="4023360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50" b="1" i="0" dirty="0">
                <a:solidFill>
                  <a:srgbClr val="FFFFFF"/>
                </a:solidFill>
                <a:latin typeface="Calibri"/>
                <a:cs typeface="Calibri"/>
              </a:rPr>
              <a:t>O que a empresa não vê</a:t>
            </a:r>
          </a:p>
        </p:txBody>
      </p:sp>
      <p:sp>
        <p:nvSpPr>
          <p:cNvPr id="18" name="txt319"/>
          <p:cNvSpPr txBox="1"/>
          <p:nvPr/>
        </p:nvSpPr>
        <p:spPr>
          <a:xfrm>
            <a:off x="7178040" y="2304288"/>
            <a:ext cx="4526280" cy="12801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219456" indent="-219456" algn="l">
              <a:lnSpc>
                <a:spcPct val="106000"/>
              </a:lnSpc>
              <a:spcBef>
                <a:spcPts val="0"/>
              </a:spcBef>
              <a:spcAft>
                <a:spcPts val="900"/>
              </a:spcAft>
              <a:buClr>
                <a:srgbClr val="6FD44B"/>
              </a:buClr>
              <a:buFont typeface="Arial"/>
              <a:buChar char="•"/>
            </a:pPr>
            <a:r>
              <a:rPr lang="pt-BR" sz="1500" dirty="0" smtClean="0">
                <a:solidFill>
                  <a:srgbClr val="5C6366"/>
                </a:solidFill>
                <a:latin typeface="Calibri"/>
                <a:cs typeface="Calibri"/>
              </a:rPr>
              <a:t>Ocorrência trabalhista (gestão de ponto)</a:t>
            </a:r>
            <a:endParaRPr lang="pt-BR" sz="1500" b="0" i="0" dirty="0">
              <a:solidFill>
                <a:srgbClr val="5C6366"/>
              </a:solidFill>
              <a:latin typeface="Calibri"/>
              <a:cs typeface="Calibri"/>
            </a:endParaRPr>
          </a:p>
          <a:p>
            <a:pPr marL="219456" indent="-219456" algn="l">
              <a:lnSpc>
                <a:spcPct val="106000"/>
              </a:lnSpc>
              <a:spcBef>
                <a:spcPts val="0"/>
              </a:spcBef>
              <a:spcAft>
                <a:spcPts val="900"/>
              </a:spcAft>
              <a:buClr>
                <a:srgbClr val="6FD44B"/>
              </a:buClr>
              <a:buFont typeface="Arial"/>
              <a:buChar char="•"/>
            </a:pPr>
            <a:r>
              <a:rPr lang="pt-BR" sz="1500" dirty="0" smtClean="0">
                <a:solidFill>
                  <a:srgbClr val="5C6366"/>
                </a:solidFill>
                <a:latin typeface="Calibri"/>
                <a:cs typeface="Calibri"/>
              </a:rPr>
              <a:t>Prestação de contas</a:t>
            </a:r>
            <a:endParaRPr lang="pt-BR" sz="1500" b="0" i="0" dirty="0">
              <a:solidFill>
                <a:srgbClr val="5C6366"/>
              </a:solidFill>
              <a:latin typeface="Calibri"/>
              <a:cs typeface="Calibri"/>
            </a:endParaRPr>
          </a:p>
        </p:txBody>
      </p:sp>
      <p:pic>
        <p:nvPicPr>
          <p:cNvPr id="2" name="ik-video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759740" y="1089291"/>
            <a:ext cx="8871668" cy="4990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18152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txt177"/>
          <p:cNvSpPr txBox="1"/>
          <p:nvPr/>
        </p:nvSpPr>
        <p:spPr>
          <a:xfrm>
            <a:off x="777240" y="457200"/>
            <a:ext cx="9052560" cy="71323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200" b="1" i="0" dirty="0">
                <a:solidFill>
                  <a:srgbClr val="151618"/>
                </a:solidFill>
                <a:latin typeface="Calibri"/>
                <a:cs typeface="Calibri"/>
              </a:rPr>
              <a:t>GPTW: o que é isso, na prática?</a:t>
            </a:r>
          </a:p>
        </p:txBody>
      </p:sp>
      <p:sp>
        <p:nvSpPr>
          <p:cNvPr id="180" name="txt179"/>
          <p:cNvSpPr txBox="1"/>
          <p:nvPr/>
        </p:nvSpPr>
        <p:spPr>
          <a:xfrm>
            <a:off x="795528" y="1188720"/>
            <a:ext cx="7955280" cy="7315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50" b="0" i="0" dirty="0">
                <a:solidFill>
                  <a:srgbClr val="5C6366"/>
                </a:solidFill>
                <a:latin typeface="Calibri"/>
                <a:cs typeface="Calibri"/>
              </a:rPr>
              <a:t>Great Place to Work é uma consultoria global que mede o quanto as pessoas confiam na empresa onde trabalham. A nota não é dada pela diretoria: quem responde é você.</a:t>
            </a:r>
          </a:p>
        </p:txBody>
      </p:sp>
      <p:sp>
        <p:nvSpPr>
          <p:cNvPr id="182" name="sh181"/>
          <p:cNvSpPr/>
          <p:nvPr/>
        </p:nvSpPr>
        <p:spPr>
          <a:xfrm>
            <a:off x="777240" y="2084832"/>
            <a:ext cx="3319272" cy="1901952"/>
          </a:xfrm>
          <a:prstGeom prst="roundRect">
            <a:avLst>
              <a:gd name="adj" fmla="val 6000"/>
            </a:avLst>
          </a:prstGeom>
          <a:solidFill>
            <a:srgbClr val="F1F8ED"/>
          </a:solidFill>
          <a:ln>
            <a:noFill/>
          </a:ln>
        </p:spPr>
        <p:txBody>
          <a:bodyPr wrap="square" lIns="128016" tIns="91440" rIns="128016" bIns="9144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" name="sh183"/>
          <p:cNvSpPr/>
          <p:nvPr/>
        </p:nvSpPr>
        <p:spPr>
          <a:xfrm>
            <a:off x="1051560" y="2322576"/>
            <a:ext cx="566928" cy="566928"/>
          </a:xfrm>
          <a:prstGeom prst="ellipse">
            <a:avLst/>
          </a:prstGeom>
          <a:solidFill>
            <a:srgbClr val="6FD44B"/>
          </a:solidFill>
          <a:ln>
            <a:noFill/>
          </a:ln>
        </p:spPr>
        <p:txBody>
          <a:bodyPr wrap="square" lIns="128016" tIns="91440" rIns="128016" bIns="9144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86" name="img18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3292" y="2464308"/>
            <a:ext cx="283464" cy="283464"/>
          </a:xfrm>
          <a:prstGeom prst="rect">
            <a:avLst/>
          </a:prstGeom>
        </p:spPr>
      </p:pic>
      <p:sp>
        <p:nvSpPr>
          <p:cNvPr id="188" name="txt187"/>
          <p:cNvSpPr txBox="1"/>
          <p:nvPr/>
        </p:nvSpPr>
        <p:spPr>
          <a:xfrm>
            <a:off x="1051560" y="3017520"/>
            <a:ext cx="2834640" cy="310896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50" b="1" i="0" dirty="0">
                <a:solidFill>
                  <a:srgbClr val="151618"/>
                </a:solidFill>
                <a:latin typeface="Calibri"/>
                <a:cs typeface="Calibri"/>
              </a:rPr>
              <a:t>Quem responde</a:t>
            </a:r>
          </a:p>
        </p:txBody>
      </p:sp>
      <p:sp>
        <p:nvSpPr>
          <p:cNvPr id="190" name="txt189"/>
          <p:cNvSpPr txBox="1"/>
          <p:nvPr/>
        </p:nvSpPr>
        <p:spPr>
          <a:xfrm>
            <a:off x="1051560" y="3346704"/>
            <a:ext cx="2834640" cy="56692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50" b="0" i="0" dirty="0">
                <a:solidFill>
                  <a:srgbClr val="5C6366"/>
                </a:solidFill>
                <a:latin typeface="Calibri"/>
                <a:cs typeface="Calibri"/>
              </a:rPr>
              <a:t>Os colaboradores, de forma voluntária e confidencial.</a:t>
            </a:r>
          </a:p>
        </p:txBody>
      </p:sp>
      <p:sp>
        <p:nvSpPr>
          <p:cNvPr id="192" name="sh191"/>
          <p:cNvSpPr/>
          <p:nvPr/>
        </p:nvSpPr>
        <p:spPr>
          <a:xfrm>
            <a:off x="4370832" y="2084832"/>
            <a:ext cx="3319272" cy="1901952"/>
          </a:xfrm>
          <a:prstGeom prst="roundRect">
            <a:avLst>
              <a:gd name="adj" fmla="val 6000"/>
            </a:avLst>
          </a:prstGeom>
          <a:solidFill>
            <a:srgbClr val="F1F8ED"/>
          </a:solidFill>
          <a:ln>
            <a:noFill/>
          </a:ln>
        </p:spPr>
        <p:txBody>
          <a:bodyPr wrap="square" lIns="128016" tIns="91440" rIns="128016" bIns="9144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" name="sh193"/>
          <p:cNvSpPr/>
          <p:nvPr/>
        </p:nvSpPr>
        <p:spPr>
          <a:xfrm>
            <a:off x="4645152" y="2322576"/>
            <a:ext cx="566928" cy="566928"/>
          </a:xfrm>
          <a:prstGeom prst="ellipse">
            <a:avLst/>
          </a:prstGeom>
          <a:solidFill>
            <a:srgbClr val="6FD44B"/>
          </a:solidFill>
          <a:ln>
            <a:noFill/>
          </a:ln>
        </p:spPr>
        <p:txBody>
          <a:bodyPr wrap="square" lIns="128016" tIns="91440" rIns="128016" bIns="9144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96" name="img19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6884" y="2464308"/>
            <a:ext cx="283464" cy="283464"/>
          </a:xfrm>
          <a:prstGeom prst="rect">
            <a:avLst/>
          </a:prstGeom>
        </p:spPr>
      </p:pic>
      <p:sp>
        <p:nvSpPr>
          <p:cNvPr id="198" name="txt197"/>
          <p:cNvSpPr txBox="1"/>
          <p:nvPr/>
        </p:nvSpPr>
        <p:spPr>
          <a:xfrm>
            <a:off x="4645152" y="3017520"/>
            <a:ext cx="2834640" cy="310896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50" b="1" i="0" dirty="0">
                <a:solidFill>
                  <a:srgbClr val="151618"/>
                </a:solidFill>
                <a:latin typeface="Calibri"/>
                <a:cs typeface="Calibri"/>
              </a:rPr>
              <a:t>O que ela mede</a:t>
            </a:r>
          </a:p>
        </p:txBody>
      </p:sp>
      <p:sp>
        <p:nvSpPr>
          <p:cNvPr id="200" name="txt199"/>
          <p:cNvSpPr txBox="1"/>
          <p:nvPr/>
        </p:nvSpPr>
        <p:spPr>
          <a:xfrm>
            <a:off x="4645152" y="3346704"/>
            <a:ext cx="2834640" cy="56692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50" b="0" i="0" dirty="0">
                <a:solidFill>
                  <a:srgbClr val="5C6366"/>
                </a:solidFill>
                <a:latin typeface="Calibri"/>
                <a:cs typeface="Calibri"/>
              </a:rPr>
              <a:t>Confiança na liderança, no time e no próprio trabalho.</a:t>
            </a:r>
          </a:p>
        </p:txBody>
      </p:sp>
      <p:sp>
        <p:nvSpPr>
          <p:cNvPr id="202" name="sh201"/>
          <p:cNvSpPr/>
          <p:nvPr/>
        </p:nvSpPr>
        <p:spPr>
          <a:xfrm>
            <a:off x="7964424" y="2084832"/>
            <a:ext cx="3319272" cy="1901952"/>
          </a:xfrm>
          <a:prstGeom prst="roundRect">
            <a:avLst>
              <a:gd name="adj" fmla="val 6000"/>
            </a:avLst>
          </a:prstGeom>
          <a:solidFill>
            <a:srgbClr val="F1F8ED"/>
          </a:solidFill>
          <a:ln>
            <a:noFill/>
          </a:ln>
        </p:spPr>
        <p:txBody>
          <a:bodyPr wrap="square" lIns="128016" tIns="91440" rIns="128016" bIns="9144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sh203"/>
          <p:cNvSpPr/>
          <p:nvPr/>
        </p:nvSpPr>
        <p:spPr>
          <a:xfrm>
            <a:off x="8238744" y="2322576"/>
            <a:ext cx="566928" cy="566928"/>
          </a:xfrm>
          <a:prstGeom prst="ellipse">
            <a:avLst/>
          </a:prstGeom>
          <a:solidFill>
            <a:srgbClr val="6FD44B"/>
          </a:solidFill>
          <a:ln>
            <a:noFill/>
          </a:ln>
        </p:spPr>
        <p:txBody>
          <a:bodyPr wrap="square" lIns="128016" tIns="91440" rIns="128016" bIns="9144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06" name="img20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0476" y="2464308"/>
            <a:ext cx="283464" cy="283464"/>
          </a:xfrm>
          <a:prstGeom prst="rect">
            <a:avLst/>
          </a:prstGeom>
        </p:spPr>
      </p:pic>
      <p:sp>
        <p:nvSpPr>
          <p:cNvPr id="208" name="txt207"/>
          <p:cNvSpPr txBox="1"/>
          <p:nvPr/>
        </p:nvSpPr>
        <p:spPr>
          <a:xfrm>
            <a:off x="8238744" y="3017520"/>
            <a:ext cx="2834640" cy="310896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50" b="1" i="0" dirty="0">
                <a:solidFill>
                  <a:srgbClr val="151618"/>
                </a:solidFill>
                <a:latin typeface="Calibri"/>
                <a:cs typeface="Calibri"/>
              </a:rPr>
              <a:t>Como vira selo</a:t>
            </a:r>
          </a:p>
        </p:txBody>
      </p:sp>
      <p:sp>
        <p:nvSpPr>
          <p:cNvPr id="210" name="txt209"/>
          <p:cNvSpPr txBox="1"/>
          <p:nvPr/>
        </p:nvSpPr>
        <p:spPr>
          <a:xfrm>
            <a:off x="8238744" y="3346704"/>
            <a:ext cx="2834640" cy="56692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50" b="0" i="0" dirty="0">
                <a:solidFill>
                  <a:srgbClr val="5C6366"/>
                </a:solidFill>
                <a:latin typeface="Calibri"/>
                <a:cs typeface="Calibri"/>
              </a:rPr>
              <a:t>A partir de 70% de respostas favoráveis a empresa pode ser certificada.</a:t>
            </a:r>
          </a:p>
        </p:txBody>
      </p:sp>
      <p:sp>
        <p:nvSpPr>
          <p:cNvPr id="212" name="sh211"/>
          <p:cNvSpPr/>
          <p:nvPr/>
        </p:nvSpPr>
        <p:spPr>
          <a:xfrm>
            <a:off x="822960" y="4224528"/>
            <a:ext cx="7498080" cy="749808"/>
          </a:xfrm>
          <a:prstGeom prst="roundRect">
            <a:avLst>
              <a:gd name="adj" fmla="val 9000"/>
            </a:avLst>
          </a:prstGeom>
          <a:solidFill>
            <a:srgbClr val="151618"/>
          </a:solidFill>
          <a:ln>
            <a:noFill/>
          </a:ln>
        </p:spPr>
        <p:txBody>
          <a:bodyPr wrap="square" lIns="128016" tIns="91440" rIns="128016" bIns="9144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" name="sh213"/>
          <p:cNvSpPr/>
          <p:nvPr/>
        </p:nvSpPr>
        <p:spPr>
          <a:xfrm>
            <a:off x="1133856" y="4389120"/>
            <a:ext cx="420624" cy="420624"/>
          </a:xfrm>
          <a:prstGeom prst="ellipse">
            <a:avLst/>
          </a:prstGeom>
          <a:solidFill>
            <a:srgbClr val="6FD44B"/>
          </a:solidFill>
          <a:ln>
            <a:noFill/>
          </a:ln>
        </p:spPr>
        <p:txBody>
          <a:bodyPr wrap="square" lIns="128016" tIns="91440" rIns="128016" bIns="9144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16" name="img21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39012" y="4494276"/>
            <a:ext cx="210312" cy="210312"/>
          </a:xfrm>
          <a:prstGeom prst="rect">
            <a:avLst/>
          </a:prstGeom>
        </p:spPr>
      </p:pic>
      <p:sp>
        <p:nvSpPr>
          <p:cNvPr id="218" name="txt217"/>
          <p:cNvSpPr txBox="1"/>
          <p:nvPr/>
        </p:nvSpPr>
        <p:spPr>
          <a:xfrm>
            <a:off x="1737360" y="4224528"/>
            <a:ext cx="6263640" cy="7498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 b="1" i="0" dirty="0">
                <a:solidFill>
                  <a:srgbClr val="FFFFFF"/>
                </a:solidFill>
                <a:latin typeface="Calibri"/>
                <a:cs typeface="Calibri"/>
              </a:rPr>
              <a:t>Voluntária e confidencial: as respostas vão para a GPTW, não para a sua liderança.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txt219"/>
          <p:cNvSpPr txBox="1"/>
          <p:nvPr/>
        </p:nvSpPr>
        <p:spPr>
          <a:xfrm>
            <a:off x="777240" y="457200"/>
            <a:ext cx="9052560" cy="71323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100" b="1" i="0" dirty="0">
                <a:solidFill>
                  <a:srgbClr val="151618"/>
                </a:solidFill>
                <a:latin typeface="Calibri"/>
                <a:cs typeface="Calibri"/>
              </a:rPr>
              <a:t>Por que isso importa pra quem está na ponta?</a:t>
            </a:r>
          </a:p>
        </p:txBody>
      </p:sp>
      <p:sp>
        <p:nvSpPr>
          <p:cNvPr id="222" name="txt221"/>
          <p:cNvSpPr txBox="1"/>
          <p:nvPr/>
        </p:nvSpPr>
        <p:spPr>
          <a:xfrm>
            <a:off x="795528" y="1170432"/>
            <a:ext cx="8778240" cy="38404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50" b="0" i="0" dirty="0">
                <a:solidFill>
                  <a:srgbClr val="5C6366"/>
                </a:solidFill>
                <a:latin typeface="Calibri"/>
                <a:cs typeface="Calibri"/>
              </a:rPr>
              <a:t>Quatro coisas que mudam de verdade quando a operação responde.</a:t>
            </a:r>
          </a:p>
        </p:txBody>
      </p:sp>
      <p:sp>
        <p:nvSpPr>
          <p:cNvPr id="224" name="sh223"/>
          <p:cNvSpPr/>
          <p:nvPr/>
        </p:nvSpPr>
        <p:spPr>
          <a:xfrm>
            <a:off x="777240" y="1755648"/>
            <a:ext cx="5120640" cy="1170432"/>
          </a:xfrm>
          <a:prstGeom prst="roundRect">
            <a:avLst>
              <a:gd name="adj" fmla="val 7000"/>
            </a:avLst>
          </a:prstGeom>
          <a:solidFill>
            <a:srgbClr val="F1F8ED"/>
          </a:solidFill>
          <a:ln>
            <a:noFill/>
          </a:ln>
        </p:spPr>
        <p:txBody>
          <a:bodyPr wrap="square" lIns="128016" tIns="91440" rIns="128016" bIns="9144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6" name="sh225"/>
          <p:cNvSpPr/>
          <p:nvPr/>
        </p:nvSpPr>
        <p:spPr>
          <a:xfrm>
            <a:off x="1051560" y="2066544"/>
            <a:ext cx="548640" cy="548640"/>
          </a:xfrm>
          <a:prstGeom prst="ellipse">
            <a:avLst/>
          </a:prstGeom>
          <a:solidFill>
            <a:srgbClr val="6FD44B"/>
          </a:solidFill>
          <a:ln>
            <a:noFill/>
          </a:ln>
        </p:spPr>
        <p:txBody>
          <a:bodyPr wrap="square" lIns="128016" tIns="91440" rIns="128016" bIns="9144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28" name="img22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2203704"/>
            <a:ext cx="274320" cy="274320"/>
          </a:xfrm>
          <a:prstGeom prst="rect">
            <a:avLst/>
          </a:prstGeom>
        </p:spPr>
      </p:pic>
      <p:sp>
        <p:nvSpPr>
          <p:cNvPr id="230" name="txt229"/>
          <p:cNvSpPr txBox="1"/>
          <p:nvPr/>
        </p:nvSpPr>
        <p:spPr>
          <a:xfrm>
            <a:off x="1746504" y="1938528"/>
            <a:ext cx="3931920" cy="310896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 b="1" i="0" dirty="0">
                <a:solidFill>
                  <a:srgbClr val="151618"/>
                </a:solidFill>
                <a:latin typeface="Calibri"/>
                <a:cs typeface="Calibri"/>
              </a:rPr>
              <a:t>Sua opinião vira pauta</a:t>
            </a:r>
          </a:p>
        </p:txBody>
      </p:sp>
      <p:sp>
        <p:nvSpPr>
          <p:cNvPr id="232" name="txt231"/>
          <p:cNvSpPr txBox="1"/>
          <p:nvPr/>
        </p:nvSpPr>
        <p:spPr>
          <a:xfrm>
            <a:off x="1746504" y="2267712"/>
            <a:ext cx="3950208" cy="54864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50" b="0" i="0" dirty="0">
                <a:solidFill>
                  <a:srgbClr val="5C6366"/>
                </a:solidFill>
                <a:latin typeface="Calibri"/>
                <a:cs typeface="Calibri"/>
              </a:rPr>
              <a:t>Cada pilar com nota baixa entra no plano de ação, com responsável e prazo.</a:t>
            </a:r>
          </a:p>
        </p:txBody>
      </p:sp>
      <p:sp>
        <p:nvSpPr>
          <p:cNvPr id="234" name="sh233"/>
          <p:cNvSpPr/>
          <p:nvPr/>
        </p:nvSpPr>
        <p:spPr>
          <a:xfrm>
            <a:off x="6263640" y="1755648"/>
            <a:ext cx="5120640" cy="1170432"/>
          </a:xfrm>
          <a:prstGeom prst="roundRect">
            <a:avLst>
              <a:gd name="adj" fmla="val 7000"/>
            </a:avLst>
          </a:prstGeom>
          <a:solidFill>
            <a:srgbClr val="F1F8ED"/>
          </a:solidFill>
          <a:ln>
            <a:noFill/>
          </a:ln>
        </p:spPr>
        <p:txBody>
          <a:bodyPr wrap="square" lIns="128016" tIns="91440" rIns="128016" bIns="9144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" name="sh235"/>
          <p:cNvSpPr/>
          <p:nvPr/>
        </p:nvSpPr>
        <p:spPr>
          <a:xfrm>
            <a:off x="6537960" y="2066544"/>
            <a:ext cx="548640" cy="548640"/>
          </a:xfrm>
          <a:prstGeom prst="ellipse">
            <a:avLst/>
          </a:prstGeom>
          <a:solidFill>
            <a:srgbClr val="6FD44B"/>
          </a:solidFill>
          <a:ln>
            <a:noFill/>
          </a:ln>
        </p:spPr>
        <p:txBody>
          <a:bodyPr wrap="square" lIns="128016" tIns="91440" rIns="128016" bIns="9144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38" name="img23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0" y="2203704"/>
            <a:ext cx="274320" cy="274320"/>
          </a:xfrm>
          <a:prstGeom prst="rect">
            <a:avLst/>
          </a:prstGeom>
        </p:spPr>
      </p:pic>
      <p:sp>
        <p:nvSpPr>
          <p:cNvPr id="240" name="txt239"/>
          <p:cNvSpPr txBox="1"/>
          <p:nvPr/>
        </p:nvSpPr>
        <p:spPr>
          <a:xfrm>
            <a:off x="7232904" y="1938528"/>
            <a:ext cx="3931920" cy="310896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 b="1" i="0" dirty="0">
                <a:solidFill>
                  <a:srgbClr val="151618"/>
                </a:solidFill>
                <a:latin typeface="Calibri"/>
                <a:cs typeface="Calibri"/>
              </a:rPr>
              <a:t>Muda o que você sente na pele</a:t>
            </a:r>
          </a:p>
        </p:txBody>
      </p:sp>
      <p:sp>
        <p:nvSpPr>
          <p:cNvPr id="242" name="txt241"/>
          <p:cNvSpPr txBox="1"/>
          <p:nvPr/>
        </p:nvSpPr>
        <p:spPr>
          <a:xfrm>
            <a:off x="7232904" y="2267712"/>
            <a:ext cx="3950208" cy="54864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50" b="0" i="0" dirty="0" smtClean="0">
                <a:solidFill>
                  <a:srgbClr val="5C6366"/>
                </a:solidFill>
                <a:latin typeface="Calibri"/>
                <a:cs typeface="Calibri"/>
              </a:rPr>
              <a:t>Escala de trabalho, pausa/descanso , </a:t>
            </a:r>
            <a:r>
              <a:rPr lang="pt-BR" sz="1150" dirty="0" smtClean="0">
                <a:solidFill>
                  <a:srgbClr val="5C6366"/>
                </a:solidFill>
                <a:latin typeface="Calibri"/>
                <a:cs typeface="Calibri"/>
              </a:rPr>
              <a:t>estrutura</a:t>
            </a:r>
            <a:r>
              <a:rPr lang="pt-BR" sz="1150" b="0" i="0" dirty="0" smtClean="0">
                <a:solidFill>
                  <a:srgbClr val="5C6366"/>
                </a:solidFill>
                <a:latin typeface="Calibri"/>
                <a:cs typeface="Calibri"/>
              </a:rPr>
              <a:t>, </a:t>
            </a:r>
            <a:r>
              <a:rPr lang="pt-BR" sz="1150" b="0" i="0" dirty="0">
                <a:solidFill>
                  <a:srgbClr val="5C6366"/>
                </a:solidFill>
                <a:latin typeface="Calibri"/>
                <a:cs typeface="Calibri"/>
              </a:rPr>
              <a:t>passagem de turno e reconhecimento.</a:t>
            </a:r>
          </a:p>
        </p:txBody>
      </p:sp>
      <p:sp>
        <p:nvSpPr>
          <p:cNvPr id="244" name="sh243"/>
          <p:cNvSpPr/>
          <p:nvPr/>
        </p:nvSpPr>
        <p:spPr>
          <a:xfrm>
            <a:off x="777240" y="3054096"/>
            <a:ext cx="5120640" cy="1170432"/>
          </a:xfrm>
          <a:prstGeom prst="roundRect">
            <a:avLst>
              <a:gd name="adj" fmla="val 7000"/>
            </a:avLst>
          </a:prstGeom>
          <a:solidFill>
            <a:srgbClr val="F1F8ED"/>
          </a:solidFill>
          <a:ln>
            <a:noFill/>
          </a:ln>
        </p:spPr>
        <p:txBody>
          <a:bodyPr wrap="square" lIns="128016" tIns="91440" rIns="128016" bIns="9144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6" name="sh245"/>
          <p:cNvSpPr/>
          <p:nvPr/>
        </p:nvSpPr>
        <p:spPr>
          <a:xfrm>
            <a:off x="1051560" y="3364992"/>
            <a:ext cx="548640" cy="548640"/>
          </a:xfrm>
          <a:prstGeom prst="ellipse">
            <a:avLst/>
          </a:prstGeom>
          <a:solidFill>
            <a:srgbClr val="6FD44B"/>
          </a:solidFill>
          <a:ln>
            <a:noFill/>
          </a:ln>
        </p:spPr>
        <p:txBody>
          <a:bodyPr wrap="square" lIns="128016" tIns="91440" rIns="128016" bIns="9144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48" name="img24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88720" y="3502152"/>
            <a:ext cx="274320" cy="274320"/>
          </a:xfrm>
          <a:prstGeom prst="rect">
            <a:avLst/>
          </a:prstGeom>
        </p:spPr>
      </p:pic>
      <p:sp>
        <p:nvSpPr>
          <p:cNvPr id="250" name="txt249"/>
          <p:cNvSpPr txBox="1"/>
          <p:nvPr/>
        </p:nvSpPr>
        <p:spPr>
          <a:xfrm>
            <a:off x="1746504" y="3236976"/>
            <a:ext cx="3931920" cy="310896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 b="1" i="0" dirty="0">
                <a:solidFill>
                  <a:srgbClr val="151618"/>
                </a:solidFill>
                <a:latin typeface="Calibri"/>
                <a:cs typeface="Calibri"/>
              </a:rPr>
              <a:t>Time bom segura gente boa</a:t>
            </a:r>
          </a:p>
        </p:txBody>
      </p:sp>
      <p:sp>
        <p:nvSpPr>
          <p:cNvPr id="252" name="txt251"/>
          <p:cNvSpPr txBox="1"/>
          <p:nvPr/>
        </p:nvSpPr>
        <p:spPr>
          <a:xfrm>
            <a:off x="1746504" y="3566160"/>
            <a:ext cx="3950208" cy="54864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50" b="0" i="0" dirty="0">
                <a:solidFill>
                  <a:srgbClr val="5C6366"/>
                </a:solidFill>
                <a:latin typeface="Calibri"/>
                <a:cs typeface="Calibri"/>
              </a:rPr>
              <a:t>Menos rotatividade é menos sobrecarga para quem fica na operação.</a:t>
            </a:r>
          </a:p>
        </p:txBody>
      </p:sp>
      <p:sp>
        <p:nvSpPr>
          <p:cNvPr id="254" name="sh253"/>
          <p:cNvSpPr/>
          <p:nvPr/>
        </p:nvSpPr>
        <p:spPr>
          <a:xfrm>
            <a:off x="6263640" y="3054096"/>
            <a:ext cx="5120640" cy="1170432"/>
          </a:xfrm>
          <a:prstGeom prst="roundRect">
            <a:avLst>
              <a:gd name="adj" fmla="val 7000"/>
            </a:avLst>
          </a:prstGeom>
          <a:solidFill>
            <a:srgbClr val="F1F8ED"/>
          </a:solidFill>
          <a:ln>
            <a:noFill/>
          </a:ln>
        </p:spPr>
        <p:txBody>
          <a:bodyPr wrap="square" lIns="128016" tIns="91440" rIns="128016" bIns="9144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6" name="sh255"/>
          <p:cNvSpPr/>
          <p:nvPr/>
        </p:nvSpPr>
        <p:spPr>
          <a:xfrm>
            <a:off x="6537960" y="3364992"/>
            <a:ext cx="548640" cy="548640"/>
          </a:xfrm>
          <a:prstGeom prst="ellipse">
            <a:avLst/>
          </a:prstGeom>
          <a:solidFill>
            <a:srgbClr val="6FD44B"/>
          </a:solidFill>
          <a:ln>
            <a:noFill/>
          </a:ln>
        </p:spPr>
        <p:txBody>
          <a:bodyPr wrap="square" lIns="128016" tIns="91440" rIns="128016" bIns="9144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58" name="img25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75120" y="3502152"/>
            <a:ext cx="274320" cy="274320"/>
          </a:xfrm>
          <a:prstGeom prst="rect">
            <a:avLst/>
          </a:prstGeom>
        </p:spPr>
      </p:pic>
      <p:sp>
        <p:nvSpPr>
          <p:cNvPr id="260" name="txt259"/>
          <p:cNvSpPr txBox="1"/>
          <p:nvPr/>
        </p:nvSpPr>
        <p:spPr>
          <a:xfrm>
            <a:off x="7232904" y="3236976"/>
            <a:ext cx="3931920" cy="310896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 b="1" i="0" dirty="0">
                <a:solidFill>
                  <a:srgbClr val="151618"/>
                </a:solidFill>
                <a:latin typeface="Calibri"/>
                <a:cs typeface="Calibri"/>
              </a:rPr>
              <a:t>Orgulho também pesa</a:t>
            </a:r>
          </a:p>
        </p:txBody>
      </p:sp>
      <p:sp>
        <p:nvSpPr>
          <p:cNvPr id="262" name="txt261"/>
          <p:cNvSpPr txBox="1"/>
          <p:nvPr/>
        </p:nvSpPr>
        <p:spPr>
          <a:xfrm>
            <a:off x="7232904" y="3566160"/>
            <a:ext cx="3950208" cy="54864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50" b="0" i="0" dirty="0">
                <a:solidFill>
                  <a:srgbClr val="5C6366"/>
                </a:solidFill>
                <a:latin typeface="Calibri"/>
                <a:cs typeface="Calibri"/>
              </a:rPr>
              <a:t>Trabalhar em uma empresa reconhecida vale no </a:t>
            </a:r>
            <a:r>
              <a:rPr lang="pt-BR" sz="1150" b="0" i="0" dirty="0" smtClean="0">
                <a:solidFill>
                  <a:srgbClr val="5C6366"/>
                </a:solidFill>
                <a:latin typeface="Calibri"/>
                <a:cs typeface="Calibri"/>
              </a:rPr>
              <a:t>currículo.</a:t>
            </a:r>
            <a:endParaRPr lang="pt-BR" sz="1150" b="0" i="0" dirty="0">
              <a:solidFill>
                <a:srgbClr val="5C6366"/>
              </a:solidFill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txt263"/>
          <p:cNvSpPr txBox="1"/>
          <p:nvPr/>
        </p:nvSpPr>
        <p:spPr>
          <a:xfrm>
            <a:off x="777240" y="457200"/>
            <a:ext cx="9052560" cy="71323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200" b="1" i="0" dirty="0">
                <a:solidFill>
                  <a:srgbClr val="151618"/>
                </a:solidFill>
                <a:latin typeface="Calibri"/>
                <a:cs typeface="Calibri"/>
              </a:rPr>
              <a:t>Como funciona a pesquisa, passo a passo</a:t>
            </a:r>
          </a:p>
        </p:txBody>
      </p:sp>
      <p:sp>
        <p:nvSpPr>
          <p:cNvPr id="266" name="txt265"/>
          <p:cNvSpPr txBox="1"/>
          <p:nvPr/>
        </p:nvSpPr>
        <p:spPr>
          <a:xfrm>
            <a:off x="795528" y="1170432"/>
            <a:ext cx="8778240" cy="38404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50" b="0" i="0" dirty="0">
                <a:solidFill>
                  <a:srgbClr val="5C6366"/>
                </a:solidFill>
                <a:latin typeface="Calibri"/>
                <a:cs typeface="Calibri"/>
              </a:rPr>
              <a:t>Do convite ao plano de ação. Sem mistério.</a:t>
            </a:r>
          </a:p>
        </p:txBody>
      </p:sp>
      <p:cxnSp>
        <p:nvCxnSpPr>
          <p:cNvPr id="267" name="ln268"/>
          <p:cNvCxnSpPr/>
          <p:nvPr/>
        </p:nvCxnSpPr>
        <p:spPr>
          <a:xfrm>
            <a:off x="1417320" y="2112264"/>
            <a:ext cx="8275320" cy="0"/>
          </a:xfrm>
          <a:prstGeom prst="line">
            <a:avLst/>
          </a:prstGeom>
          <a:ln w="20320">
            <a:solidFill>
              <a:srgbClr val="DFE4E1"/>
            </a:solidFill>
          </a:ln>
        </p:spPr>
      </p:cxnSp>
      <p:sp>
        <p:nvSpPr>
          <p:cNvPr id="270" name="sh269"/>
          <p:cNvSpPr/>
          <p:nvPr/>
        </p:nvSpPr>
        <p:spPr>
          <a:xfrm>
            <a:off x="777240" y="1874520"/>
            <a:ext cx="475488" cy="475488"/>
          </a:xfrm>
          <a:prstGeom prst="ellipse">
            <a:avLst/>
          </a:prstGeom>
          <a:solidFill>
            <a:srgbClr val="6FD44B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i="0" dirty="0">
                <a:solidFill>
                  <a:srgbClr val="151618"/>
                </a:solidFill>
                <a:latin typeface="Calibri"/>
                <a:cs typeface="Calibri"/>
              </a:rPr>
              <a:t>1</a:t>
            </a:r>
          </a:p>
        </p:txBody>
      </p:sp>
      <p:sp>
        <p:nvSpPr>
          <p:cNvPr id="272" name="txt271"/>
          <p:cNvSpPr txBox="1"/>
          <p:nvPr/>
        </p:nvSpPr>
        <p:spPr>
          <a:xfrm>
            <a:off x="777240" y="2523744"/>
            <a:ext cx="1920240" cy="29260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50" b="1" i="0" dirty="0">
                <a:solidFill>
                  <a:srgbClr val="151618"/>
                </a:solidFill>
                <a:latin typeface="Calibri"/>
                <a:cs typeface="Calibri"/>
              </a:rPr>
              <a:t>Convite</a:t>
            </a:r>
          </a:p>
        </p:txBody>
      </p:sp>
      <p:sp>
        <p:nvSpPr>
          <p:cNvPr id="274" name="txt273"/>
          <p:cNvSpPr txBox="1"/>
          <p:nvPr/>
        </p:nvSpPr>
        <p:spPr>
          <a:xfrm>
            <a:off x="777240" y="2834640"/>
            <a:ext cx="1938528" cy="98755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 b="0" i="0" dirty="0">
                <a:solidFill>
                  <a:srgbClr val="5C6366"/>
                </a:solidFill>
                <a:latin typeface="Calibri"/>
                <a:cs typeface="Calibri"/>
              </a:rPr>
              <a:t>Você recebe o link ou o QR code por um canal oficial.</a:t>
            </a:r>
          </a:p>
        </p:txBody>
      </p:sp>
      <p:sp>
        <p:nvSpPr>
          <p:cNvPr id="276" name="sh275"/>
          <p:cNvSpPr/>
          <p:nvPr/>
        </p:nvSpPr>
        <p:spPr>
          <a:xfrm>
            <a:off x="2944368" y="1874520"/>
            <a:ext cx="475488" cy="475488"/>
          </a:xfrm>
          <a:prstGeom prst="ellipse">
            <a:avLst/>
          </a:prstGeom>
          <a:solidFill>
            <a:srgbClr val="6FD44B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i="0" dirty="0">
                <a:solidFill>
                  <a:srgbClr val="151618"/>
                </a:solidFill>
                <a:latin typeface="Calibri"/>
                <a:cs typeface="Calibri"/>
              </a:rPr>
              <a:t>2</a:t>
            </a:r>
          </a:p>
        </p:txBody>
      </p:sp>
      <p:sp>
        <p:nvSpPr>
          <p:cNvPr id="278" name="txt277"/>
          <p:cNvSpPr txBox="1"/>
          <p:nvPr/>
        </p:nvSpPr>
        <p:spPr>
          <a:xfrm>
            <a:off x="2944368" y="2523744"/>
            <a:ext cx="1920240" cy="29260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50" b="1" i="0" dirty="0">
                <a:solidFill>
                  <a:srgbClr val="151618"/>
                </a:solidFill>
                <a:latin typeface="Calibri"/>
                <a:cs typeface="Calibri"/>
              </a:rPr>
              <a:t>Resposta</a:t>
            </a:r>
          </a:p>
        </p:txBody>
      </p:sp>
      <p:sp>
        <p:nvSpPr>
          <p:cNvPr id="280" name="txt279"/>
          <p:cNvSpPr txBox="1"/>
          <p:nvPr/>
        </p:nvSpPr>
        <p:spPr>
          <a:xfrm>
            <a:off x="2944368" y="2834640"/>
            <a:ext cx="1938528" cy="98755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 b="0" i="0" dirty="0">
                <a:solidFill>
                  <a:srgbClr val="5C6366"/>
                </a:solidFill>
                <a:latin typeface="Calibri"/>
                <a:cs typeface="Calibri"/>
              </a:rPr>
              <a:t>Cerca de 60 afirmativas e 15 minutos. Dá para fazer no celular.</a:t>
            </a:r>
          </a:p>
        </p:txBody>
      </p:sp>
      <p:sp>
        <p:nvSpPr>
          <p:cNvPr id="282" name="sh281"/>
          <p:cNvSpPr/>
          <p:nvPr/>
        </p:nvSpPr>
        <p:spPr>
          <a:xfrm>
            <a:off x="5111496" y="1874520"/>
            <a:ext cx="475488" cy="475488"/>
          </a:xfrm>
          <a:prstGeom prst="ellipse">
            <a:avLst/>
          </a:prstGeom>
          <a:solidFill>
            <a:srgbClr val="6FD44B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i="0" dirty="0">
                <a:solidFill>
                  <a:srgbClr val="151618"/>
                </a:solidFill>
                <a:latin typeface="Calibri"/>
                <a:cs typeface="Calibri"/>
              </a:rPr>
              <a:t>3</a:t>
            </a:r>
          </a:p>
        </p:txBody>
      </p:sp>
      <p:sp>
        <p:nvSpPr>
          <p:cNvPr id="284" name="txt283"/>
          <p:cNvSpPr txBox="1"/>
          <p:nvPr/>
        </p:nvSpPr>
        <p:spPr>
          <a:xfrm>
            <a:off x="5111496" y="2523744"/>
            <a:ext cx="1920240" cy="29260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50" b="1" i="0" dirty="0">
                <a:solidFill>
                  <a:srgbClr val="151618"/>
                </a:solidFill>
                <a:latin typeface="Calibri"/>
                <a:cs typeface="Calibri"/>
              </a:rPr>
              <a:t>Sigilo</a:t>
            </a:r>
          </a:p>
        </p:txBody>
      </p:sp>
      <p:sp>
        <p:nvSpPr>
          <p:cNvPr id="286" name="txt285"/>
          <p:cNvSpPr txBox="1"/>
          <p:nvPr/>
        </p:nvSpPr>
        <p:spPr>
          <a:xfrm>
            <a:off x="5111496" y="2834640"/>
            <a:ext cx="1938528" cy="98755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 b="0" i="0" dirty="0">
                <a:solidFill>
                  <a:srgbClr val="5C6366"/>
                </a:solidFill>
                <a:latin typeface="Calibri"/>
                <a:cs typeface="Calibri"/>
              </a:rPr>
              <a:t>As respostas vão direto para a GPTW, não para a filial.</a:t>
            </a:r>
          </a:p>
        </p:txBody>
      </p:sp>
      <p:sp>
        <p:nvSpPr>
          <p:cNvPr id="288" name="sh287"/>
          <p:cNvSpPr/>
          <p:nvPr/>
        </p:nvSpPr>
        <p:spPr>
          <a:xfrm>
            <a:off x="7278624" y="1874520"/>
            <a:ext cx="475488" cy="475488"/>
          </a:xfrm>
          <a:prstGeom prst="ellipse">
            <a:avLst/>
          </a:prstGeom>
          <a:solidFill>
            <a:srgbClr val="6FD44B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i="0" dirty="0">
                <a:solidFill>
                  <a:srgbClr val="151618"/>
                </a:solidFill>
                <a:latin typeface="Calibri"/>
                <a:cs typeface="Calibri"/>
              </a:rPr>
              <a:t>4</a:t>
            </a:r>
          </a:p>
        </p:txBody>
      </p:sp>
      <p:sp>
        <p:nvSpPr>
          <p:cNvPr id="290" name="txt289"/>
          <p:cNvSpPr txBox="1"/>
          <p:nvPr/>
        </p:nvSpPr>
        <p:spPr>
          <a:xfrm>
            <a:off x="7278624" y="2523744"/>
            <a:ext cx="1920240" cy="29260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50" b="1" i="0" dirty="0">
                <a:solidFill>
                  <a:srgbClr val="151618"/>
                </a:solidFill>
                <a:latin typeface="Calibri"/>
                <a:cs typeface="Calibri"/>
              </a:rPr>
              <a:t>Resultado</a:t>
            </a:r>
          </a:p>
        </p:txBody>
      </p:sp>
      <p:sp>
        <p:nvSpPr>
          <p:cNvPr id="292" name="txt291"/>
          <p:cNvSpPr txBox="1"/>
          <p:nvPr/>
        </p:nvSpPr>
        <p:spPr>
          <a:xfrm>
            <a:off x="7278624" y="2834640"/>
            <a:ext cx="1938528" cy="98755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 b="0" i="0" dirty="0">
                <a:solidFill>
                  <a:srgbClr val="5C6366"/>
                </a:solidFill>
                <a:latin typeface="Calibri"/>
                <a:cs typeface="Calibri"/>
              </a:rPr>
              <a:t>A empresa recebe o relatório por grupos, nunca por pessoa.</a:t>
            </a:r>
          </a:p>
        </p:txBody>
      </p:sp>
      <p:sp>
        <p:nvSpPr>
          <p:cNvPr id="294" name="sh293"/>
          <p:cNvSpPr/>
          <p:nvPr/>
        </p:nvSpPr>
        <p:spPr>
          <a:xfrm>
            <a:off x="9445752" y="1874520"/>
            <a:ext cx="475488" cy="475488"/>
          </a:xfrm>
          <a:prstGeom prst="ellipse">
            <a:avLst/>
          </a:prstGeom>
          <a:solidFill>
            <a:srgbClr val="6FD44B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i="0" dirty="0">
                <a:solidFill>
                  <a:srgbClr val="151618"/>
                </a:solidFill>
                <a:latin typeface="Calibri"/>
                <a:cs typeface="Calibri"/>
              </a:rPr>
              <a:t>5</a:t>
            </a:r>
          </a:p>
        </p:txBody>
      </p:sp>
      <p:sp>
        <p:nvSpPr>
          <p:cNvPr id="296" name="txt295"/>
          <p:cNvSpPr txBox="1"/>
          <p:nvPr/>
        </p:nvSpPr>
        <p:spPr>
          <a:xfrm>
            <a:off x="9445752" y="2523744"/>
            <a:ext cx="1920240" cy="29260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50" b="1" i="0" dirty="0">
                <a:solidFill>
                  <a:srgbClr val="151618"/>
                </a:solidFill>
                <a:latin typeface="Calibri"/>
                <a:cs typeface="Calibri"/>
              </a:rPr>
              <a:t>Ação</a:t>
            </a:r>
          </a:p>
        </p:txBody>
      </p:sp>
      <p:sp>
        <p:nvSpPr>
          <p:cNvPr id="298" name="txt297"/>
          <p:cNvSpPr txBox="1"/>
          <p:nvPr/>
        </p:nvSpPr>
        <p:spPr>
          <a:xfrm>
            <a:off x="9445752" y="2834640"/>
            <a:ext cx="1938528" cy="98755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 b="0" i="0" dirty="0">
                <a:solidFill>
                  <a:srgbClr val="5C6366"/>
                </a:solidFill>
                <a:latin typeface="Calibri"/>
                <a:cs typeface="Calibri"/>
              </a:rPr>
              <a:t>Os pontos fracos viram plano com dono e prazo.</a:t>
            </a:r>
          </a:p>
        </p:txBody>
      </p:sp>
      <p:sp>
        <p:nvSpPr>
          <p:cNvPr id="300" name="sh299"/>
          <p:cNvSpPr/>
          <p:nvPr/>
        </p:nvSpPr>
        <p:spPr>
          <a:xfrm>
            <a:off x="822960" y="4160520"/>
            <a:ext cx="7498080" cy="804672"/>
          </a:xfrm>
          <a:prstGeom prst="roundRect">
            <a:avLst>
              <a:gd name="adj" fmla="val 9000"/>
            </a:avLst>
          </a:prstGeom>
          <a:solidFill>
            <a:srgbClr val="151618"/>
          </a:solidFill>
          <a:ln>
            <a:noFill/>
          </a:ln>
        </p:spPr>
        <p:txBody>
          <a:bodyPr wrap="square" lIns="128016" tIns="91440" rIns="128016" bIns="9144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2" name="sh301"/>
          <p:cNvSpPr/>
          <p:nvPr/>
        </p:nvSpPr>
        <p:spPr>
          <a:xfrm>
            <a:off x="1133856" y="4352544"/>
            <a:ext cx="420624" cy="420624"/>
          </a:xfrm>
          <a:prstGeom prst="ellipse">
            <a:avLst/>
          </a:prstGeom>
          <a:solidFill>
            <a:srgbClr val="6FD44B"/>
          </a:solidFill>
          <a:ln>
            <a:noFill/>
          </a:ln>
        </p:spPr>
        <p:txBody>
          <a:bodyPr wrap="square" lIns="128016" tIns="91440" rIns="128016" bIns="9144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04" name="img30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9012" y="4457700"/>
            <a:ext cx="210312" cy="210312"/>
          </a:xfrm>
          <a:prstGeom prst="rect">
            <a:avLst/>
          </a:prstGeom>
        </p:spPr>
      </p:pic>
      <p:sp>
        <p:nvSpPr>
          <p:cNvPr id="306" name="txt305"/>
          <p:cNvSpPr txBox="1"/>
          <p:nvPr/>
        </p:nvSpPr>
        <p:spPr>
          <a:xfrm>
            <a:off x="1737360" y="4160520"/>
            <a:ext cx="6263640" cy="804672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 b="1" i="0" dirty="0">
                <a:solidFill>
                  <a:srgbClr val="FFFFFF"/>
                </a:solidFill>
                <a:latin typeface="Calibri"/>
                <a:cs typeface="Calibri"/>
              </a:rPr>
              <a:t>Adesão é </a:t>
            </a:r>
            <a:r>
              <a:rPr lang="pt-BR" sz="1300" b="1" i="0" dirty="0" smtClean="0">
                <a:solidFill>
                  <a:srgbClr val="FFFFFF"/>
                </a:solidFill>
                <a:latin typeface="Calibri"/>
                <a:cs typeface="Calibri"/>
              </a:rPr>
              <a:t>tudo, se o </a:t>
            </a:r>
            <a:r>
              <a:rPr lang="pt-BR" sz="1300" b="1" i="0" dirty="0">
                <a:solidFill>
                  <a:srgbClr val="FFFFFF"/>
                </a:solidFill>
                <a:latin typeface="Calibri"/>
                <a:cs typeface="Calibri"/>
              </a:rPr>
              <a:t>time não responde, o resultado não conta a nossa história.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txt307"/>
          <p:cNvSpPr txBox="1"/>
          <p:nvPr/>
        </p:nvSpPr>
        <p:spPr>
          <a:xfrm>
            <a:off x="777240" y="457200"/>
            <a:ext cx="9052560" cy="71323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200" b="1" i="0" dirty="0">
                <a:solidFill>
                  <a:srgbClr val="151618"/>
                </a:solidFill>
                <a:latin typeface="Calibri"/>
                <a:cs typeface="Calibri"/>
              </a:rPr>
              <a:t>Sigilo: quem vê o quê</a:t>
            </a:r>
          </a:p>
        </p:txBody>
      </p:sp>
      <p:sp>
        <p:nvSpPr>
          <p:cNvPr id="310" name="txt309"/>
          <p:cNvSpPr txBox="1"/>
          <p:nvPr/>
        </p:nvSpPr>
        <p:spPr>
          <a:xfrm>
            <a:off x="795528" y="1170432"/>
            <a:ext cx="8778240" cy="38404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50" b="0" i="0" dirty="0">
                <a:solidFill>
                  <a:srgbClr val="5C6366"/>
                </a:solidFill>
                <a:latin typeface="Calibri"/>
                <a:cs typeface="Calibri"/>
              </a:rPr>
              <a:t>A dúvida número um de toda operação. Vamos resolver isso agora.</a:t>
            </a:r>
          </a:p>
        </p:txBody>
      </p:sp>
      <p:sp>
        <p:nvSpPr>
          <p:cNvPr id="312" name="sh311"/>
          <p:cNvSpPr/>
          <p:nvPr/>
        </p:nvSpPr>
        <p:spPr>
          <a:xfrm>
            <a:off x="777240" y="1755648"/>
            <a:ext cx="5120640" cy="2340864"/>
          </a:xfrm>
          <a:prstGeom prst="roundRect">
            <a:avLst>
              <a:gd name="adj" fmla="val 6000"/>
            </a:avLst>
          </a:prstGeom>
          <a:solidFill>
            <a:srgbClr val="F0F2F1"/>
          </a:solidFill>
          <a:ln>
            <a:noFill/>
          </a:ln>
        </p:spPr>
        <p:txBody>
          <a:bodyPr wrap="square" lIns="128016" tIns="91440" rIns="128016" bIns="9144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4" name="sh313"/>
          <p:cNvSpPr/>
          <p:nvPr/>
        </p:nvSpPr>
        <p:spPr>
          <a:xfrm>
            <a:off x="1088136" y="2029968"/>
            <a:ext cx="475488" cy="475488"/>
          </a:xfrm>
          <a:prstGeom prst="ellipse">
            <a:avLst/>
          </a:prstGeom>
          <a:solidFill>
            <a:srgbClr val="6FD44B"/>
          </a:solidFill>
          <a:ln>
            <a:noFill/>
          </a:ln>
        </p:spPr>
        <p:txBody>
          <a:bodyPr wrap="square" lIns="128016" tIns="91440" rIns="128016" bIns="9144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16" name="img3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2148840"/>
            <a:ext cx="237744" cy="237744"/>
          </a:xfrm>
          <a:prstGeom prst="rect">
            <a:avLst/>
          </a:prstGeom>
        </p:spPr>
      </p:pic>
      <p:sp>
        <p:nvSpPr>
          <p:cNvPr id="318" name="txt317"/>
          <p:cNvSpPr txBox="1"/>
          <p:nvPr/>
        </p:nvSpPr>
        <p:spPr>
          <a:xfrm>
            <a:off x="1691640" y="2066544"/>
            <a:ext cx="4023360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50" b="1" i="0" dirty="0">
                <a:solidFill>
                  <a:srgbClr val="151618"/>
                </a:solidFill>
                <a:latin typeface="Calibri"/>
                <a:cs typeface="Calibri"/>
              </a:rPr>
              <a:t>O que a empresa vê</a:t>
            </a:r>
          </a:p>
        </p:txBody>
      </p:sp>
      <p:sp>
        <p:nvSpPr>
          <p:cNvPr id="320" name="txt319"/>
          <p:cNvSpPr txBox="1"/>
          <p:nvPr/>
        </p:nvSpPr>
        <p:spPr>
          <a:xfrm>
            <a:off x="1106424" y="2670048"/>
            <a:ext cx="4526280" cy="12801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219456" indent="-219456" algn="l">
              <a:lnSpc>
                <a:spcPct val="106000"/>
              </a:lnSpc>
              <a:spcBef>
                <a:spcPts val="0"/>
              </a:spcBef>
              <a:spcAft>
                <a:spcPts val="900"/>
              </a:spcAft>
              <a:buClr>
                <a:srgbClr val="6FD44B"/>
              </a:buClr>
              <a:buFont typeface="Arial"/>
              <a:buChar char="•"/>
            </a:pPr>
            <a:r>
              <a:rPr lang="pt-BR" sz="1200" b="0" i="0" dirty="0">
                <a:solidFill>
                  <a:srgbClr val="5C6366"/>
                </a:solidFill>
                <a:latin typeface="Calibri"/>
                <a:cs typeface="Calibri"/>
              </a:rPr>
              <a:t>Percentual de favorabilidade por pilar</a:t>
            </a:r>
          </a:p>
          <a:p>
            <a:pPr marL="219456" indent="-219456" algn="l">
              <a:lnSpc>
                <a:spcPct val="106000"/>
              </a:lnSpc>
              <a:spcBef>
                <a:spcPts val="0"/>
              </a:spcBef>
              <a:spcAft>
                <a:spcPts val="900"/>
              </a:spcAft>
              <a:buClr>
                <a:srgbClr val="6FD44B"/>
              </a:buClr>
              <a:buFont typeface="Arial"/>
              <a:buChar char="•"/>
            </a:pPr>
            <a:r>
              <a:rPr lang="pt-BR" sz="1200" b="0" i="0" dirty="0">
                <a:solidFill>
                  <a:srgbClr val="5C6366"/>
                </a:solidFill>
                <a:latin typeface="Calibri"/>
                <a:cs typeface="Calibri"/>
              </a:rPr>
              <a:t>Resultados agrupados por área ou turno</a:t>
            </a:r>
          </a:p>
          <a:p>
            <a:pPr marL="219456" indent="-219456" algn="l">
              <a:lnSpc>
                <a:spcPct val="106000"/>
              </a:lnSpc>
              <a:spcBef>
                <a:spcPts val="0"/>
              </a:spcBef>
              <a:spcAft>
                <a:spcPts val="900"/>
              </a:spcAft>
              <a:buClr>
                <a:srgbClr val="6FD44B"/>
              </a:buClr>
              <a:buFont typeface="Arial"/>
              <a:buChar char="•"/>
            </a:pPr>
            <a:r>
              <a:rPr lang="pt-BR" sz="1200" b="0" i="0" dirty="0">
                <a:solidFill>
                  <a:srgbClr val="5C6366"/>
                </a:solidFill>
                <a:latin typeface="Calibri"/>
                <a:cs typeface="Calibri"/>
              </a:rPr>
              <a:t>Comentários abertos transcritos sem identificação</a:t>
            </a:r>
          </a:p>
        </p:txBody>
      </p:sp>
      <p:sp>
        <p:nvSpPr>
          <p:cNvPr id="322" name="sh321"/>
          <p:cNvSpPr/>
          <p:nvPr/>
        </p:nvSpPr>
        <p:spPr>
          <a:xfrm>
            <a:off x="6263640" y="1755648"/>
            <a:ext cx="5120640" cy="2340864"/>
          </a:xfrm>
          <a:prstGeom prst="roundRect">
            <a:avLst>
              <a:gd name="adj" fmla="val 6000"/>
            </a:avLst>
          </a:prstGeom>
          <a:solidFill>
            <a:srgbClr val="151618"/>
          </a:solidFill>
          <a:ln>
            <a:noFill/>
          </a:ln>
        </p:spPr>
        <p:txBody>
          <a:bodyPr wrap="square" lIns="128016" tIns="91440" rIns="128016" bIns="9144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4" name="sh323"/>
          <p:cNvSpPr/>
          <p:nvPr/>
        </p:nvSpPr>
        <p:spPr>
          <a:xfrm>
            <a:off x="6574536" y="2029968"/>
            <a:ext cx="475488" cy="475488"/>
          </a:xfrm>
          <a:prstGeom prst="ellipse">
            <a:avLst/>
          </a:prstGeom>
          <a:solidFill>
            <a:srgbClr val="6FD44B"/>
          </a:solidFill>
          <a:ln>
            <a:noFill/>
          </a:ln>
        </p:spPr>
        <p:txBody>
          <a:bodyPr wrap="square" lIns="128016" tIns="91440" rIns="128016" bIns="9144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26" name="img32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3408" y="2148840"/>
            <a:ext cx="237744" cy="237744"/>
          </a:xfrm>
          <a:prstGeom prst="rect">
            <a:avLst/>
          </a:prstGeom>
        </p:spPr>
      </p:pic>
      <p:sp>
        <p:nvSpPr>
          <p:cNvPr id="328" name="txt327"/>
          <p:cNvSpPr txBox="1"/>
          <p:nvPr/>
        </p:nvSpPr>
        <p:spPr>
          <a:xfrm>
            <a:off x="7178040" y="2066544"/>
            <a:ext cx="4023360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50" b="1" i="0" dirty="0">
                <a:solidFill>
                  <a:srgbClr val="FFFFFF"/>
                </a:solidFill>
                <a:latin typeface="Calibri"/>
                <a:cs typeface="Calibri"/>
              </a:rPr>
              <a:t>O que a empresa não vê</a:t>
            </a:r>
          </a:p>
        </p:txBody>
      </p:sp>
      <p:sp>
        <p:nvSpPr>
          <p:cNvPr id="330" name="txt329"/>
          <p:cNvSpPr txBox="1"/>
          <p:nvPr/>
        </p:nvSpPr>
        <p:spPr>
          <a:xfrm>
            <a:off x="6592824" y="2670048"/>
            <a:ext cx="4526280" cy="12801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219456" indent="-219456" algn="l">
              <a:lnSpc>
                <a:spcPct val="106000"/>
              </a:lnSpc>
              <a:spcBef>
                <a:spcPts val="0"/>
              </a:spcBef>
              <a:spcAft>
                <a:spcPts val="900"/>
              </a:spcAft>
              <a:buClr>
                <a:srgbClr val="6FD44B"/>
              </a:buClr>
              <a:buFont typeface="Arial"/>
              <a:buChar char="•"/>
            </a:pPr>
            <a:r>
              <a:rPr lang="pt-BR" sz="1200" b="0" i="0" dirty="0">
                <a:solidFill>
                  <a:srgbClr val="D5D9DA"/>
                </a:solidFill>
                <a:latin typeface="Calibri"/>
                <a:cs typeface="Calibri"/>
              </a:rPr>
              <a:t>Seu nome ou a sua matrícula</a:t>
            </a:r>
          </a:p>
          <a:p>
            <a:pPr marL="219456" indent="-219456" algn="l">
              <a:lnSpc>
                <a:spcPct val="106000"/>
              </a:lnSpc>
              <a:spcBef>
                <a:spcPts val="0"/>
              </a:spcBef>
              <a:spcAft>
                <a:spcPts val="900"/>
              </a:spcAft>
              <a:buClr>
                <a:srgbClr val="6FD44B"/>
              </a:buClr>
              <a:buFont typeface="Arial"/>
              <a:buChar char="•"/>
            </a:pPr>
            <a:r>
              <a:rPr lang="pt-BR" sz="1200" b="0" i="0" dirty="0">
                <a:solidFill>
                  <a:srgbClr val="D5D9DA"/>
                </a:solidFill>
                <a:latin typeface="Calibri"/>
                <a:cs typeface="Calibri"/>
              </a:rPr>
              <a:t>Quem respondeu o quê</a:t>
            </a:r>
          </a:p>
          <a:p>
            <a:pPr marL="219456" indent="-219456" algn="l">
              <a:lnSpc>
                <a:spcPct val="106000"/>
              </a:lnSpc>
              <a:spcBef>
                <a:spcPts val="0"/>
              </a:spcBef>
              <a:spcAft>
                <a:spcPts val="900"/>
              </a:spcAft>
              <a:buClr>
                <a:srgbClr val="6FD44B"/>
              </a:buClr>
              <a:buFont typeface="Arial"/>
              <a:buChar char="•"/>
            </a:pPr>
            <a:r>
              <a:rPr lang="pt-BR" sz="1200" b="0" i="0" dirty="0">
                <a:solidFill>
                  <a:srgbClr val="D5D9DA"/>
                </a:solidFill>
                <a:latin typeface="Calibri"/>
                <a:cs typeface="Calibri"/>
              </a:rPr>
              <a:t>Qualquer resposta individual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txt335"/>
          <p:cNvSpPr txBox="1"/>
          <p:nvPr/>
        </p:nvSpPr>
        <p:spPr>
          <a:xfrm>
            <a:off x="777240" y="457200"/>
            <a:ext cx="9052560" cy="71323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200" b="1" i="0" dirty="0">
                <a:solidFill>
                  <a:srgbClr val="151618"/>
                </a:solidFill>
                <a:latin typeface="Calibri"/>
                <a:cs typeface="Calibri"/>
              </a:rPr>
              <a:t>Os cinco pilares que a pesquisa mede</a:t>
            </a:r>
          </a:p>
        </p:txBody>
      </p:sp>
      <p:sp>
        <p:nvSpPr>
          <p:cNvPr id="338" name="txt337"/>
          <p:cNvSpPr txBox="1"/>
          <p:nvPr/>
        </p:nvSpPr>
        <p:spPr>
          <a:xfrm>
            <a:off x="795528" y="1170432"/>
            <a:ext cx="8778240" cy="38404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50" b="0" i="0" dirty="0">
                <a:solidFill>
                  <a:srgbClr val="5C6366"/>
                </a:solidFill>
                <a:latin typeface="Calibri"/>
                <a:cs typeface="Calibri"/>
              </a:rPr>
              <a:t>É sobre isto que o Trust Index pergunta — e sobre o que vamos conversar hoje.</a:t>
            </a:r>
          </a:p>
        </p:txBody>
      </p:sp>
      <p:sp>
        <p:nvSpPr>
          <p:cNvPr id="340" name="sh339"/>
          <p:cNvSpPr/>
          <p:nvPr/>
        </p:nvSpPr>
        <p:spPr>
          <a:xfrm>
            <a:off x="777240" y="1783079"/>
            <a:ext cx="1965960" cy="4561449"/>
          </a:xfrm>
          <a:prstGeom prst="roundRect">
            <a:avLst>
              <a:gd name="adj" fmla="val 6000"/>
            </a:avLst>
          </a:prstGeom>
          <a:solidFill>
            <a:srgbClr val="F1F8ED"/>
          </a:solidFill>
          <a:ln>
            <a:noFill/>
          </a:ln>
        </p:spPr>
        <p:txBody>
          <a:bodyPr wrap="square" lIns="128016" tIns="91440" rIns="128016" bIns="9144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2" name="sh341"/>
          <p:cNvSpPr/>
          <p:nvPr/>
        </p:nvSpPr>
        <p:spPr>
          <a:xfrm>
            <a:off x="978408" y="1993392"/>
            <a:ext cx="512064" cy="512064"/>
          </a:xfrm>
          <a:prstGeom prst="ellipse">
            <a:avLst/>
          </a:prstGeom>
          <a:solidFill>
            <a:srgbClr val="6FD44B"/>
          </a:solidFill>
          <a:ln>
            <a:noFill/>
          </a:ln>
        </p:spPr>
        <p:txBody>
          <a:bodyPr wrap="square" lIns="128016" tIns="91440" rIns="128016" bIns="9144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44" name="img34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6424" y="2121408"/>
            <a:ext cx="256032" cy="256032"/>
          </a:xfrm>
          <a:prstGeom prst="rect">
            <a:avLst/>
          </a:prstGeom>
        </p:spPr>
      </p:pic>
      <p:sp>
        <p:nvSpPr>
          <p:cNvPr id="346" name="txt345"/>
          <p:cNvSpPr txBox="1"/>
          <p:nvPr/>
        </p:nvSpPr>
        <p:spPr>
          <a:xfrm>
            <a:off x="960120" y="2651760"/>
            <a:ext cx="1645920" cy="29260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i="0" cap="all" spc="40" dirty="0" smtClean="0">
                <a:solidFill>
                  <a:srgbClr val="151618"/>
                </a:solidFill>
                <a:latin typeface="Calibri"/>
                <a:cs typeface="Calibri"/>
              </a:rPr>
              <a:t>Credibilidade</a:t>
            </a:r>
            <a:endParaRPr lang="pt-BR" sz="1600" b="1" i="0" cap="all" spc="40" dirty="0">
              <a:solidFill>
                <a:srgbClr val="151618"/>
              </a:solidFill>
              <a:latin typeface="Calibri"/>
              <a:cs typeface="Calibri"/>
            </a:endParaRPr>
          </a:p>
        </p:txBody>
      </p:sp>
      <p:sp>
        <p:nvSpPr>
          <p:cNvPr id="348" name="txt347"/>
          <p:cNvSpPr txBox="1"/>
          <p:nvPr/>
        </p:nvSpPr>
        <p:spPr>
          <a:xfrm>
            <a:off x="960120" y="2962656"/>
            <a:ext cx="1627632" cy="10972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 b="0" i="0" dirty="0">
                <a:solidFill>
                  <a:srgbClr val="5C6366"/>
                </a:solidFill>
                <a:latin typeface="Calibri"/>
                <a:cs typeface="Calibri"/>
              </a:rPr>
              <a:t>A liderança comunica, cumpre o que promete e sabe conduzir</a:t>
            </a:r>
            <a:r>
              <a:rPr lang="pt-BR" sz="1500" b="0" i="0" dirty="0" smtClean="0">
                <a:solidFill>
                  <a:srgbClr val="5C6366"/>
                </a:solidFill>
                <a:latin typeface="Calibri"/>
                <a:cs typeface="Calibri"/>
              </a:rPr>
              <a:t>.</a:t>
            </a:r>
          </a:p>
          <a:p>
            <a:pPr marL="0" indent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pt-BR" sz="1500" dirty="0">
              <a:solidFill>
                <a:srgbClr val="5C6366"/>
              </a:solidFill>
              <a:latin typeface="Calibri"/>
              <a:cs typeface="Calibri"/>
            </a:endParaRPr>
          </a:p>
          <a:p>
            <a:pPr marL="0" indent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 b="0" i="0" dirty="0" smtClean="0">
                <a:solidFill>
                  <a:srgbClr val="5C6366"/>
                </a:solidFill>
                <a:latin typeface="Calibri"/>
                <a:cs typeface="Calibri"/>
              </a:rPr>
              <a:t>Exemplos:</a:t>
            </a:r>
          </a:p>
          <a:p>
            <a:pPr>
              <a:lnSpc>
                <a:spcPct val="106000"/>
              </a:lnSpc>
            </a:pPr>
            <a:r>
              <a:rPr lang="pt-BR" sz="1300" dirty="0">
                <a:solidFill>
                  <a:srgbClr val="151618"/>
                </a:solidFill>
                <a:cs typeface="Calibri"/>
              </a:rPr>
              <a:t>Escala publicada com antecedência, passagem de turno clara e resposta para quem pergunta</a:t>
            </a:r>
            <a:endParaRPr lang="pt-BR" sz="1300" b="0" i="0" dirty="0" smtClean="0">
              <a:solidFill>
                <a:srgbClr val="5C6366"/>
              </a:solidFill>
              <a:latin typeface="Calibri"/>
              <a:cs typeface="Calibri"/>
            </a:endParaRPr>
          </a:p>
          <a:p>
            <a:pPr marL="0" indent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pt-BR" sz="1100" dirty="0">
              <a:solidFill>
                <a:srgbClr val="5C6366"/>
              </a:solidFill>
              <a:latin typeface="Calibri"/>
              <a:cs typeface="Calibri"/>
            </a:endParaRPr>
          </a:p>
          <a:p>
            <a:pPr marL="0" indent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pt-BR" sz="1100" b="0" i="0" dirty="0">
              <a:solidFill>
                <a:srgbClr val="5C6366"/>
              </a:solidFill>
              <a:latin typeface="Calibri"/>
              <a:cs typeface="Calibri"/>
            </a:endParaRPr>
          </a:p>
        </p:txBody>
      </p:sp>
      <p:sp>
        <p:nvSpPr>
          <p:cNvPr id="350" name="sh349"/>
          <p:cNvSpPr/>
          <p:nvPr/>
        </p:nvSpPr>
        <p:spPr>
          <a:xfrm>
            <a:off x="2944368" y="1783080"/>
            <a:ext cx="1883664" cy="4561448"/>
          </a:xfrm>
          <a:prstGeom prst="roundRect">
            <a:avLst>
              <a:gd name="adj" fmla="val 6000"/>
            </a:avLst>
          </a:prstGeom>
          <a:solidFill>
            <a:srgbClr val="F1F8ED"/>
          </a:solidFill>
          <a:ln>
            <a:noFill/>
          </a:ln>
        </p:spPr>
        <p:txBody>
          <a:bodyPr wrap="square" lIns="128016" tIns="91440" rIns="128016" bIns="9144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2" name="sh351"/>
          <p:cNvSpPr/>
          <p:nvPr/>
        </p:nvSpPr>
        <p:spPr>
          <a:xfrm>
            <a:off x="3145536" y="1993392"/>
            <a:ext cx="512064" cy="512064"/>
          </a:xfrm>
          <a:prstGeom prst="ellipse">
            <a:avLst/>
          </a:prstGeom>
          <a:solidFill>
            <a:srgbClr val="6FD44B"/>
          </a:solidFill>
          <a:ln>
            <a:noFill/>
          </a:ln>
        </p:spPr>
        <p:txBody>
          <a:bodyPr wrap="square" lIns="128016" tIns="91440" rIns="128016" bIns="9144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54" name="img35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73552" y="2121408"/>
            <a:ext cx="256032" cy="256032"/>
          </a:xfrm>
          <a:prstGeom prst="rect">
            <a:avLst/>
          </a:prstGeom>
        </p:spPr>
      </p:pic>
      <p:sp>
        <p:nvSpPr>
          <p:cNvPr id="356" name="txt355"/>
          <p:cNvSpPr txBox="1"/>
          <p:nvPr/>
        </p:nvSpPr>
        <p:spPr>
          <a:xfrm>
            <a:off x="3127248" y="2651760"/>
            <a:ext cx="1645920" cy="29260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cap="all" spc="40" dirty="0">
                <a:solidFill>
                  <a:srgbClr val="151618"/>
                </a:solidFill>
                <a:latin typeface="Calibri"/>
                <a:cs typeface="Calibri"/>
              </a:rPr>
              <a:t>Respeito</a:t>
            </a:r>
          </a:p>
        </p:txBody>
      </p:sp>
      <p:sp>
        <p:nvSpPr>
          <p:cNvPr id="358" name="txt357"/>
          <p:cNvSpPr txBox="1"/>
          <p:nvPr/>
        </p:nvSpPr>
        <p:spPr>
          <a:xfrm>
            <a:off x="3127248" y="2962656"/>
            <a:ext cx="1627632" cy="10972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 b="0" i="0" dirty="0">
                <a:solidFill>
                  <a:srgbClr val="5C6366"/>
                </a:solidFill>
                <a:latin typeface="Calibri"/>
                <a:cs typeface="Calibri"/>
              </a:rPr>
              <a:t>Sou ouvido, tenho condição de trabalho e sou tratado como gente</a:t>
            </a:r>
            <a:r>
              <a:rPr lang="pt-BR" sz="1500" b="0" i="0" dirty="0" smtClean="0">
                <a:solidFill>
                  <a:srgbClr val="5C6366"/>
                </a:solidFill>
                <a:latin typeface="Calibri"/>
                <a:cs typeface="Calibri"/>
              </a:rPr>
              <a:t>.</a:t>
            </a:r>
          </a:p>
          <a:p>
            <a:pPr marL="0" indent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pt-BR" sz="1500" dirty="0">
              <a:solidFill>
                <a:srgbClr val="5C6366"/>
              </a:solidFill>
              <a:latin typeface="Calibri"/>
              <a:cs typeface="Calibri"/>
            </a:endParaRPr>
          </a:p>
          <a:p>
            <a:pPr marL="0" indent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 b="0" i="0" dirty="0" smtClean="0">
                <a:solidFill>
                  <a:srgbClr val="5C6366"/>
                </a:solidFill>
                <a:latin typeface="Calibri"/>
                <a:cs typeface="Calibri"/>
              </a:rPr>
              <a:t>Exemplos:</a:t>
            </a:r>
          </a:p>
          <a:p>
            <a:pPr>
              <a:lnSpc>
                <a:spcPct val="106000"/>
              </a:lnSpc>
            </a:pPr>
            <a:r>
              <a:rPr lang="pt-BR" sz="1300" dirty="0" smtClean="0">
                <a:solidFill>
                  <a:srgbClr val="151618"/>
                </a:solidFill>
                <a:cs typeface="Calibri"/>
              </a:rPr>
              <a:t>Uniforme </a:t>
            </a:r>
            <a:r>
              <a:rPr lang="pt-BR" sz="1300" dirty="0">
                <a:solidFill>
                  <a:srgbClr val="151618"/>
                </a:solidFill>
                <a:cs typeface="Calibri"/>
              </a:rPr>
              <a:t>e EPI em ordem, pausa cumprida e treinamento antes da cobrança</a:t>
            </a:r>
            <a:endParaRPr lang="pt-BR" sz="1300" b="0" i="0" dirty="0">
              <a:solidFill>
                <a:srgbClr val="5C6366"/>
              </a:solidFill>
              <a:latin typeface="Calibri"/>
              <a:cs typeface="Calibri"/>
            </a:endParaRPr>
          </a:p>
        </p:txBody>
      </p:sp>
      <p:sp>
        <p:nvSpPr>
          <p:cNvPr id="360" name="sh359"/>
          <p:cNvSpPr/>
          <p:nvPr/>
        </p:nvSpPr>
        <p:spPr>
          <a:xfrm>
            <a:off x="5111496" y="1783080"/>
            <a:ext cx="2039112" cy="4561448"/>
          </a:xfrm>
          <a:prstGeom prst="roundRect">
            <a:avLst>
              <a:gd name="adj" fmla="val 6000"/>
            </a:avLst>
          </a:prstGeom>
          <a:solidFill>
            <a:srgbClr val="F1F8ED"/>
          </a:solidFill>
          <a:ln>
            <a:noFill/>
          </a:ln>
        </p:spPr>
        <p:txBody>
          <a:bodyPr wrap="square" lIns="128016" tIns="91440" rIns="128016" bIns="9144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2" name="sh361"/>
          <p:cNvSpPr/>
          <p:nvPr/>
        </p:nvSpPr>
        <p:spPr>
          <a:xfrm>
            <a:off x="5312664" y="1993392"/>
            <a:ext cx="512064" cy="512064"/>
          </a:xfrm>
          <a:prstGeom prst="ellipse">
            <a:avLst/>
          </a:prstGeom>
          <a:solidFill>
            <a:srgbClr val="6FD44B"/>
          </a:solidFill>
          <a:ln>
            <a:noFill/>
          </a:ln>
        </p:spPr>
        <p:txBody>
          <a:bodyPr wrap="square" lIns="128016" tIns="91440" rIns="128016" bIns="9144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64" name="img36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40680" y="2121408"/>
            <a:ext cx="256032" cy="256032"/>
          </a:xfrm>
          <a:prstGeom prst="rect">
            <a:avLst/>
          </a:prstGeom>
        </p:spPr>
      </p:pic>
      <p:sp>
        <p:nvSpPr>
          <p:cNvPr id="366" name="txt365"/>
          <p:cNvSpPr txBox="1"/>
          <p:nvPr/>
        </p:nvSpPr>
        <p:spPr>
          <a:xfrm>
            <a:off x="5294376" y="2651760"/>
            <a:ext cx="1645920" cy="29260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cap="all" spc="40" dirty="0">
                <a:solidFill>
                  <a:srgbClr val="151618"/>
                </a:solidFill>
                <a:latin typeface="Calibri"/>
                <a:cs typeface="Calibri"/>
              </a:rPr>
              <a:t>Imparcialidade</a:t>
            </a:r>
          </a:p>
        </p:txBody>
      </p:sp>
      <p:sp>
        <p:nvSpPr>
          <p:cNvPr id="368" name="txt367"/>
          <p:cNvSpPr txBox="1"/>
          <p:nvPr/>
        </p:nvSpPr>
        <p:spPr>
          <a:xfrm>
            <a:off x="5294376" y="2962656"/>
            <a:ext cx="1627632" cy="10972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 b="0" i="0" dirty="0">
                <a:solidFill>
                  <a:srgbClr val="5C6366"/>
                </a:solidFill>
                <a:latin typeface="Calibri"/>
                <a:cs typeface="Calibri"/>
              </a:rPr>
              <a:t>A regra vale para todos. Sem panelinha e sem favorito</a:t>
            </a:r>
            <a:r>
              <a:rPr lang="pt-BR" sz="1500" b="0" i="0" dirty="0" smtClean="0">
                <a:solidFill>
                  <a:srgbClr val="5C6366"/>
                </a:solidFill>
                <a:latin typeface="Calibri"/>
                <a:cs typeface="Calibri"/>
              </a:rPr>
              <a:t>.</a:t>
            </a:r>
          </a:p>
          <a:p>
            <a:pPr marL="0" indent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pt-BR" sz="1500" dirty="0">
              <a:solidFill>
                <a:srgbClr val="5C6366"/>
              </a:solidFill>
              <a:latin typeface="Calibri"/>
              <a:cs typeface="Calibri"/>
            </a:endParaRPr>
          </a:p>
          <a:p>
            <a:pPr marL="0" indent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pt-BR" sz="1500" b="0" i="0" dirty="0" smtClean="0">
              <a:solidFill>
                <a:srgbClr val="5C6366"/>
              </a:solidFill>
              <a:latin typeface="Calibri"/>
              <a:cs typeface="Calibri"/>
            </a:endParaRPr>
          </a:p>
          <a:p>
            <a:pPr marL="0" indent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 dirty="0" smtClean="0">
                <a:solidFill>
                  <a:srgbClr val="5C6366"/>
                </a:solidFill>
                <a:latin typeface="Calibri"/>
                <a:cs typeface="Calibri"/>
              </a:rPr>
              <a:t>Exemplo:</a:t>
            </a:r>
          </a:p>
          <a:p>
            <a:pPr>
              <a:lnSpc>
                <a:spcPct val="106000"/>
              </a:lnSpc>
            </a:pPr>
            <a:r>
              <a:rPr lang="pt-BR" sz="1300" dirty="0">
                <a:solidFill>
                  <a:srgbClr val="151618"/>
                </a:solidFill>
                <a:cs typeface="Calibri"/>
              </a:rPr>
              <a:t>Critério conhecido para folga, hora extra e indicação para promoção</a:t>
            </a:r>
            <a:r>
              <a:rPr lang="pt-BR" sz="1500" dirty="0">
                <a:solidFill>
                  <a:srgbClr val="151618"/>
                </a:solidFill>
                <a:cs typeface="Calibri"/>
              </a:rPr>
              <a:t>.</a:t>
            </a:r>
          </a:p>
          <a:p>
            <a:pPr marL="0" indent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pt-BR" sz="1100" dirty="0" smtClean="0">
              <a:solidFill>
                <a:srgbClr val="5C6366"/>
              </a:solidFill>
              <a:latin typeface="Calibri"/>
              <a:cs typeface="Calibri"/>
            </a:endParaRPr>
          </a:p>
          <a:p>
            <a:pPr marL="0" indent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pt-BR" sz="1100" b="0" i="0" dirty="0">
              <a:solidFill>
                <a:srgbClr val="5C6366"/>
              </a:solidFill>
              <a:latin typeface="Calibri"/>
              <a:cs typeface="Calibri"/>
            </a:endParaRPr>
          </a:p>
        </p:txBody>
      </p:sp>
      <p:sp>
        <p:nvSpPr>
          <p:cNvPr id="370" name="sh369"/>
          <p:cNvSpPr/>
          <p:nvPr/>
        </p:nvSpPr>
        <p:spPr>
          <a:xfrm>
            <a:off x="7278624" y="1783080"/>
            <a:ext cx="2029968" cy="4561448"/>
          </a:xfrm>
          <a:prstGeom prst="roundRect">
            <a:avLst>
              <a:gd name="adj" fmla="val 6000"/>
            </a:avLst>
          </a:prstGeom>
          <a:solidFill>
            <a:srgbClr val="F1F8ED"/>
          </a:solidFill>
          <a:ln>
            <a:noFill/>
          </a:ln>
        </p:spPr>
        <p:txBody>
          <a:bodyPr wrap="square" lIns="128016" tIns="91440" rIns="128016" bIns="9144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2" name="sh371"/>
          <p:cNvSpPr/>
          <p:nvPr/>
        </p:nvSpPr>
        <p:spPr>
          <a:xfrm>
            <a:off x="7479792" y="1993392"/>
            <a:ext cx="512064" cy="512064"/>
          </a:xfrm>
          <a:prstGeom prst="ellipse">
            <a:avLst/>
          </a:prstGeom>
          <a:solidFill>
            <a:srgbClr val="6FD44B"/>
          </a:solidFill>
          <a:ln>
            <a:noFill/>
          </a:ln>
        </p:spPr>
        <p:txBody>
          <a:bodyPr wrap="square" lIns="128016" tIns="91440" rIns="128016" bIns="9144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74" name="img37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07808" y="2121408"/>
            <a:ext cx="256032" cy="256032"/>
          </a:xfrm>
          <a:prstGeom prst="rect">
            <a:avLst/>
          </a:prstGeom>
        </p:spPr>
      </p:pic>
      <p:sp>
        <p:nvSpPr>
          <p:cNvPr id="376" name="txt375"/>
          <p:cNvSpPr txBox="1"/>
          <p:nvPr/>
        </p:nvSpPr>
        <p:spPr>
          <a:xfrm>
            <a:off x="7461504" y="2651760"/>
            <a:ext cx="1645920" cy="29260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cap="all" spc="40" dirty="0">
                <a:solidFill>
                  <a:srgbClr val="151618"/>
                </a:solidFill>
                <a:latin typeface="Calibri"/>
                <a:cs typeface="Calibri"/>
              </a:rPr>
              <a:t>Orgulho</a:t>
            </a:r>
          </a:p>
        </p:txBody>
      </p:sp>
      <p:sp>
        <p:nvSpPr>
          <p:cNvPr id="378" name="txt377"/>
          <p:cNvSpPr txBox="1"/>
          <p:nvPr/>
        </p:nvSpPr>
        <p:spPr>
          <a:xfrm>
            <a:off x="7461504" y="2962656"/>
            <a:ext cx="1627632" cy="10972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 b="0" i="0" dirty="0">
                <a:solidFill>
                  <a:srgbClr val="5C6366"/>
                </a:solidFill>
                <a:latin typeface="Calibri"/>
                <a:cs typeface="Calibri"/>
              </a:rPr>
              <a:t>Tenho orgulho do que faço, do meu time e da empresa</a:t>
            </a:r>
            <a:r>
              <a:rPr lang="pt-BR" sz="1500" b="0" i="0" dirty="0" smtClean="0">
                <a:solidFill>
                  <a:srgbClr val="5C6366"/>
                </a:solidFill>
                <a:latin typeface="Calibri"/>
                <a:cs typeface="Calibri"/>
              </a:rPr>
              <a:t>.</a:t>
            </a:r>
          </a:p>
          <a:p>
            <a:pPr marL="0" indent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pt-BR" sz="1500" dirty="0">
              <a:solidFill>
                <a:srgbClr val="5C6366"/>
              </a:solidFill>
              <a:latin typeface="Calibri"/>
              <a:cs typeface="Calibri"/>
            </a:endParaRPr>
          </a:p>
          <a:p>
            <a:pPr marL="0" indent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pt-BR" sz="1500" b="0" i="0" dirty="0" smtClean="0">
              <a:solidFill>
                <a:srgbClr val="5C6366"/>
              </a:solidFill>
              <a:latin typeface="Calibri"/>
              <a:cs typeface="Calibri"/>
            </a:endParaRPr>
          </a:p>
          <a:p>
            <a:pPr marL="0" indent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 dirty="0" smtClean="0">
                <a:solidFill>
                  <a:srgbClr val="5C6366"/>
                </a:solidFill>
                <a:latin typeface="Calibri"/>
                <a:cs typeface="Calibri"/>
              </a:rPr>
              <a:t>Exemplo:</a:t>
            </a:r>
          </a:p>
          <a:p>
            <a:pPr>
              <a:lnSpc>
                <a:spcPct val="106000"/>
              </a:lnSpc>
            </a:pPr>
            <a:r>
              <a:rPr lang="pt-BR" sz="1300" dirty="0">
                <a:solidFill>
                  <a:srgbClr val="151618"/>
                </a:solidFill>
                <a:cs typeface="Calibri"/>
              </a:rPr>
              <a:t>Elogio de cliente circula no grupo. Erro se resolve sem humilhar ninguém</a:t>
            </a:r>
            <a:r>
              <a:rPr lang="pt-BR" sz="1500" dirty="0">
                <a:solidFill>
                  <a:srgbClr val="151618"/>
                </a:solidFill>
                <a:cs typeface="Calibri"/>
              </a:rPr>
              <a:t>.</a:t>
            </a:r>
          </a:p>
          <a:p>
            <a:pPr marL="0" indent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pt-BR" sz="1100" b="0" i="0" dirty="0">
              <a:solidFill>
                <a:srgbClr val="5C6366"/>
              </a:solidFill>
              <a:latin typeface="Calibri"/>
              <a:cs typeface="Calibri"/>
            </a:endParaRPr>
          </a:p>
        </p:txBody>
      </p:sp>
      <p:sp>
        <p:nvSpPr>
          <p:cNvPr id="380" name="sh379"/>
          <p:cNvSpPr/>
          <p:nvPr/>
        </p:nvSpPr>
        <p:spPr>
          <a:xfrm>
            <a:off x="9491472" y="1728216"/>
            <a:ext cx="2048256" cy="4616312"/>
          </a:xfrm>
          <a:prstGeom prst="roundRect">
            <a:avLst>
              <a:gd name="adj" fmla="val 6000"/>
            </a:avLst>
          </a:prstGeom>
          <a:solidFill>
            <a:srgbClr val="F1F8ED"/>
          </a:solidFill>
          <a:ln>
            <a:noFill/>
          </a:ln>
        </p:spPr>
        <p:txBody>
          <a:bodyPr wrap="square" lIns="128016" tIns="91440" rIns="128016" bIns="9144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2" name="sh381"/>
          <p:cNvSpPr/>
          <p:nvPr/>
        </p:nvSpPr>
        <p:spPr>
          <a:xfrm>
            <a:off x="9646920" y="1993392"/>
            <a:ext cx="512064" cy="512064"/>
          </a:xfrm>
          <a:prstGeom prst="ellipse">
            <a:avLst/>
          </a:prstGeom>
          <a:solidFill>
            <a:srgbClr val="6FD44B"/>
          </a:solidFill>
          <a:ln>
            <a:noFill/>
          </a:ln>
        </p:spPr>
        <p:txBody>
          <a:bodyPr wrap="square" lIns="128016" tIns="91440" rIns="128016" bIns="9144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84" name="img38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74936" y="2121408"/>
            <a:ext cx="256032" cy="256032"/>
          </a:xfrm>
          <a:prstGeom prst="rect">
            <a:avLst/>
          </a:prstGeom>
        </p:spPr>
      </p:pic>
      <p:sp>
        <p:nvSpPr>
          <p:cNvPr id="386" name="txt385"/>
          <p:cNvSpPr txBox="1"/>
          <p:nvPr/>
        </p:nvSpPr>
        <p:spPr>
          <a:xfrm>
            <a:off x="9628632" y="2651760"/>
            <a:ext cx="1645920" cy="29260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cap="all" spc="40" dirty="0">
                <a:solidFill>
                  <a:srgbClr val="151618"/>
                </a:solidFill>
                <a:latin typeface="Calibri"/>
                <a:cs typeface="Calibri"/>
              </a:rPr>
              <a:t>Camaradagem</a:t>
            </a:r>
          </a:p>
        </p:txBody>
      </p:sp>
      <p:sp>
        <p:nvSpPr>
          <p:cNvPr id="388" name="txt387"/>
          <p:cNvSpPr txBox="1"/>
          <p:nvPr/>
        </p:nvSpPr>
        <p:spPr>
          <a:xfrm>
            <a:off x="9628632" y="2962656"/>
            <a:ext cx="1627632" cy="10972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 b="0" i="0" dirty="0">
                <a:solidFill>
                  <a:srgbClr val="5C6366"/>
                </a:solidFill>
                <a:latin typeface="Calibri"/>
                <a:cs typeface="Calibri"/>
              </a:rPr>
              <a:t>Dá para contar com o colega. Aqui é um bom lugar de convivência</a:t>
            </a:r>
            <a:r>
              <a:rPr lang="pt-BR" sz="1500" b="0" i="0" dirty="0" smtClean="0">
                <a:solidFill>
                  <a:srgbClr val="5C6366"/>
                </a:solidFill>
                <a:latin typeface="Calibri"/>
                <a:cs typeface="Calibri"/>
              </a:rPr>
              <a:t>.</a:t>
            </a:r>
          </a:p>
          <a:p>
            <a:pPr marL="0" indent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pt-BR" sz="1500" dirty="0">
              <a:solidFill>
                <a:srgbClr val="5C6366"/>
              </a:solidFill>
              <a:latin typeface="Calibri"/>
              <a:cs typeface="Calibri"/>
            </a:endParaRPr>
          </a:p>
          <a:p>
            <a:pPr marL="0" indent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 b="0" i="0" dirty="0" smtClean="0">
                <a:solidFill>
                  <a:srgbClr val="5C6366"/>
                </a:solidFill>
                <a:latin typeface="Calibri"/>
                <a:cs typeface="Calibri"/>
              </a:rPr>
              <a:t>Exemplo:</a:t>
            </a:r>
          </a:p>
          <a:p>
            <a:pPr>
              <a:lnSpc>
                <a:spcPct val="106000"/>
              </a:lnSpc>
            </a:pPr>
            <a:r>
              <a:rPr lang="pt-BR" sz="1300" dirty="0">
                <a:solidFill>
                  <a:srgbClr val="151618"/>
                </a:solidFill>
                <a:cs typeface="Calibri"/>
              </a:rPr>
              <a:t>Quem entra novo tem padrinho. Ninguém aprende sozinho na guarita</a:t>
            </a:r>
            <a:endParaRPr lang="pt-BR" sz="1300" b="0" i="0" dirty="0" smtClean="0">
              <a:solidFill>
                <a:srgbClr val="5C6366"/>
              </a:solidFill>
              <a:latin typeface="Calibri"/>
              <a:cs typeface="Calibri"/>
            </a:endParaRPr>
          </a:p>
          <a:p>
            <a:pPr marL="0" indent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pt-BR" sz="1100" b="0" i="0" dirty="0">
              <a:solidFill>
                <a:srgbClr val="5C6366"/>
              </a:solidFill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txt447"/>
          <p:cNvSpPr txBox="1"/>
          <p:nvPr/>
        </p:nvSpPr>
        <p:spPr>
          <a:xfrm>
            <a:off x="777240" y="457200"/>
            <a:ext cx="9052560" cy="71323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200" b="1" i="0" dirty="0">
                <a:solidFill>
                  <a:srgbClr val="151618"/>
                </a:solidFill>
                <a:latin typeface="Calibri"/>
                <a:cs typeface="Calibri"/>
              </a:rPr>
              <a:t>Mitos e verdades</a:t>
            </a:r>
          </a:p>
        </p:txBody>
      </p:sp>
      <p:sp>
        <p:nvSpPr>
          <p:cNvPr id="450" name="txt449"/>
          <p:cNvSpPr txBox="1"/>
          <p:nvPr/>
        </p:nvSpPr>
        <p:spPr>
          <a:xfrm>
            <a:off x="795528" y="1170432"/>
            <a:ext cx="8778240" cy="38404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 b="0" i="0" dirty="0">
                <a:solidFill>
                  <a:srgbClr val="5C6366"/>
                </a:solidFill>
                <a:latin typeface="Calibri"/>
                <a:cs typeface="Calibri"/>
              </a:rPr>
              <a:t>O que a gente escuta no cafezinho — e o que de fato acontece</a:t>
            </a:r>
            <a:r>
              <a:rPr lang="pt-BR" sz="1450" b="0" i="0" dirty="0">
                <a:solidFill>
                  <a:srgbClr val="5C6366"/>
                </a:solidFill>
                <a:latin typeface="Calibri"/>
                <a:cs typeface="Calibri"/>
              </a:rPr>
              <a:t>.</a:t>
            </a:r>
          </a:p>
        </p:txBody>
      </p:sp>
      <p:sp>
        <p:nvSpPr>
          <p:cNvPr id="452" name="txt451"/>
          <p:cNvSpPr txBox="1"/>
          <p:nvPr/>
        </p:nvSpPr>
        <p:spPr>
          <a:xfrm>
            <a:off x="1005840" y="1536192"/>
            <a:ext cx="4389120" cy="2743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 b="1" i="0" cap="all" spc="140" dirty="0">
                <a:solidFill>
                  <a:srgbClr val="5C6366"/>
                </a:solidFill>
                <a:latin typeface="Calibri"/>
                <a:cs typeface="Calibri"/>
              </a:rPr>
              <a:t>O que a gente escuta</a:t>
            </a:r>
          </a:p>
        </p:txBody>
      </p:sp>
      <p:sp>
        <p:nvSpPr>
          <p:cNvPr id="454" name="txt453"/>
          <p:cNvSpPr txBox="1"/>
          <p:nvPr/>
        </p:nvSpPr>
        <p:spPr>
          <a:xfrm>
            <a:off x="6236208" y="1536192"/>
            <a:ext cx="4937760" cy="2743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 b="1" i="0" cap="all" spc="140" dirty="0">
                <a:solidFill>
                  <a:srgbClr val="5C6366"/>
                </a:solidFill>
                <a:latin typeface="Calibri"/>
                <a:cs typeface="Calibri"/>
              </a:rPr>
              <a:t>O que de fato acontece</a:t>
            </a:r>
          </a:p>
        </p:txBody>
      </p:sp>
      <p:sp>
        <p:nvSpPr>
          <p:cNvPr id="456" name="sh455"/>
          <p:cNvSpPr/>
          <p:nvPr/>
        </p:nvSpPr>
        <p:spPr>
          <a:xfrm>
            <a:off x="822960" y="1874520"/>
            <a:ext cx="4663440" cy="548640"/>
          </a:xfrm>
          <a:prstGeom prst="roundRect">
            <a:avLst>
              <a:gd name="adj" fmla="val 16000"/>
            </a:avLst>
          </a:prstGeom>
          <a:solidFill>
            <a:srgbClr val="F0F2F1"/>
          </a:solidFill>
          <a:ln>
            <a:noFill/>
          </a:ln>
        </p:spPr>
        <p:txBody>
          <a:bodyPr wrap="square" lIns="128016" tIns="91440" rIns="128016" bIns="9144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8" name="txt457"/>
          <p:cNvSpPr txBox="1"/>
          <p:nvPr/>
        </p:nvSpPr>
        <p:spPr>
          <a:xfrm>
            <a:off x="1060704" y="1874520"/>
            <a:ext cx="4206240" cy="54864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50" b="0" i="1" dirty="0">
                <a:solidFill>
                  <a:srgbClr val="5C6366"/>
                </a:solidFill>
                <a:latin typeface="Calibri"/>
                <a:cs typeface="Calibri"/>
              </a:rPr>
              <a:t>“</a:t>
            </a:r>
            <a:r>
              <a:rPr lang="pt-BR" sz="1300" b="0" i="1" dirty="0">
                <a:solidFill>
                  <a:srgbClr val="5C6366"/>
                </a:solidFill>
                <a:latin typeface="Calibri"/>
                <a:cs typeface="Calibri"/>
              </a:rPr>
              <a:t>Isso é coisa do RH, não muda nada.”</a:t>
            </a:r>
          </a:p>
        </p:txBody>
      </p:sp>
      <p:sp>
        <p:nvSpPr>
          <p:cNvPr id="460" name="sh459"/>
          <p:cNvSpPr/>
          <p:nvPr/>
        </p:nvSpPr>
        <p:spPr>
          <a:xfrm>
            <a:off x="5596128" y="2002536"/>
            <a:ext cx="292608" cy="292608"/>
          </a:xfrm>
          <a:prstGeom prst="ellipse">
            <a:avLst/>
          </a:prstGeom>
          <a:solidFill>
            <a:srgbClr val="6FD44B"/>
          </a:solidFill>
          <a:ln>
            <a:noFill/>
          </a:ln>
        </p:spPr>
        <p:txBody>
          <a:bodyPr wrap="square" lIns="128016" tIns="91440" rIns="128016" bIns="9144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62" name="img46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7451" y="2073859"/>
            <a:ext cx="149962" cy="149962"/>
          </a:xfrm>
          <a:prstGeom prst="rect">
            <a:avLst/>
          </a:prstGeom>
        </p:spPr>
      </p:pic>
      <p:sp>
        <p:nvSpPr>
          <p:cNvPr id="464" name="sh463"/>
          <p:cNvSpPr/>
          <p:nvPr/>
        </p:nvSpPr>
        <p:spPr>
          <a:xfrm>
            <a:off x="6053328" y="1874520"/>
            <a:ext cx="5303520" cy="548640"/>
          </a:xfrm>
          <a:prstGeom prst="roundRect">
            <a:avLst>
              <a:gd name="adj" fmla="val 16000"/>
            </a:avLst>
          </a:prstGeom>
          <a:solidFill>
            <a:srgbClr val="F1F8ED"/>
          </a:solidFill>
          <a:ln>
            <a:noFill/>
          </a:ln>
        </p:spPr>
        <p:txBody>
          <a:bodyPr wrap="square" lIns="128016" tIns="91440" rIns="128016" bIns="9144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6" name="txt465"/>
          <p:cNvSpPr txBox="1"/>
          <p:nvPr/>
        </p:nvSpPr>
        <p:spPr>
          <a:xfrm>
            <a:off x="6272784" y="1874520"/>
            <a:ext cx="4882896" cy="54864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 b="0" i="0" dirty="0">
                <a:solidFill>
                  <a:srgbClr val="151618"/>
                </a:solidFill>
                <a:latin typeface="Calibri"/>
                <a:cs typeface="Calibri"/>
              </a:rPr>
              <a:t>O plano de ação nasce do resultado e tem dono e prazo. O que ninguém disser não entra no plano.</a:t>
            </a:r>
          </a:p>
        </p:txBody>
      </p:sp>
      <p:sp>
        <p:nvSpPr>
          <p:cNvPr id="468" name="sh467"/>
          <p:cNvSpPr/>
          <p:nvPr/>
        </p:nvSpPr>
        <p:spPr>
          <a:xfrm>
            <a:off x="822960" y="2478024"/>
            <a:ext cx="4663440" cy="548640"/>
          </a:xfrm>
          <a:prstGeom prst="roundRect">
            <a:avLst>
              <a:gd name="adj" fmla="val 16000"/>
            </a:avLst>
          </a:prstGeom>
          <a:solidFill>
            <a:srgbClr val="F0F2F1"/>
          </a:solidFill>
          <a:ln>
            <a:noFill/>
          </a:ln>
        </p:spPr>
        <p:txBody>
          <a:bodyPr wrap="square" lIns="128016" tIns="91440" rIns="128016" bIns="9144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0" name="txt469"/>
          <p:cNvSpPr txBox="1"/>
          <p:nvPr/>
        </p:nvSpPr>
        <p:spPr>
          <a:xfrm>
            <a:off x="1060704" y="2478024"/>
            <a:ext cx="4206240" cy="54864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50" b="0" i="1" dirty="0">
                <a:solidFill>
                  <a:srgbClr val="5C6366"/>
                </a:solidFill>
                <a:latin typeface="Calibri"/>
                <a:cs typeface="Calibri"/>
              </a:rPr>
              <a:t>“</a:t>
            </a:r>
            <a:r>
              <a:rPr lang="pt-BR" sz="1300" b="0" i="1" dirty="0">
                <a:solidFill>
                  <a:srgbClr val="5C6366"/>
                </a:solidFill>
                <a:latin typeface="Calibri"/>
                <a:cs typeface="Calibri"/>
              </a:rPr>
              <a:t>Se eu criticar, vão descobrir quem foi.”</a:t>
            </a:r>
          </a:p>
        </p:txBody>
      </p:sp>
      <p:sp>
        <p:nvSpPr>
          <p:cNvPr id="472" name="sh471"/>
          <p:cNvSpPr/>
          <p:nvPr/>
        </p:nvSpPr>
        <p:spPr>
          <a:xfrm>
            <a:off x="5596128" y="2606040"/>
            <a:ext cx="292608" cy="292608"/>
          </a:xfrm>
          <a:prstGeom prst="ellipse">
            <a:avLst/>
          </a:prstGeom>
          <a:solidFill>
            <a:srgbClr val="6FD44B"/>
          </a:solidFill>
          <a:ln>
            <a:noFill/>
          </a:ln>
        </p:spPr>
        <p:txBody>
          <a:bodyPr wrap="square" lIns="128016" tIns="91440" rIns="128016" bIns="9144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74" name="img47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7451" y="2677363"/>
            <a:ext cx="149962" cy="149962"/>
          </a:xfrm>
          <a:prstGeom prst="rect">
            <a:avLst/>
          </a:prstGeom>
        </p:spPr>
      </p:pic>
      <p:sp>
        <p:nvSpPr>
          <p:cNvPr id="476" name="sh475"/>
          <p:cNvSpPr/>
          <p:nvPr/>
        </p:nvSpPr>
        <p:spPr>
          <a:xfrm>
            <a:off x="6053328" y="2478024"/>
            <a:ext cx="5303520" cy="548640"/>
          </a:xfrm>
          <a:prstGeom prst="roundRect">
            <a:avLst>
              <a:gd name="adj" fmla="val 16000"/>
            </a:avLst>
          </a:prstGeom>
          <a:solidFill>
            <a:srgbClr val="F1F8ED"/>
          </a:solidFill>
          <a:ln>
            <a:noFill/>
          </a:ln>
        </p:spPr>
        <p:txBody>
          <a:bodyPr wrap="square" lIns="128016" tIns="91440" rIns="128016" bIns="9144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8" name="txt477"/>
          <p:cNvSpPr txBox="1"/>
          <p:nvPr/>
        </p:nvSpPr>
        <p:spPr>
          <a:xfrm>
            <a:off x="6272784" y="2478024"/>
            <a:ext cx="4882896" cy="54864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 b="0" i="0" dirty="0">
                <a:solidFill>
                  <a:srgbClr val="151618"/>
                </a:solidFill>
                <a:latin typeface="Calibri"/>
                <a:cs typeface="Calibri"/>
              </a:rPr>
              <a:t>A GPTW recebe as respostas. A empresa enxerga percentual por grupo, nunca por pessoa.</a:t>
            </a:r>
          </a:p>
        </p:txBody>
      </p:sp>
      <p:sp>
        <p:nvSpPr>
          <p:cNvPr id="480" name="sh479"/>
          <p:cNvSpPr/>
          <p:nvPr/>
        </p:nvSpPr>
        <p:spPr>
          <a:xfrm>
            <a:off x="822960" y="3081528"/>
            <a:ext cx="4663440" cy="548640"/>
          </a:xfrm>
          <a:prstGeom prst="roundRect">
            <a:avLst>
              <a:gd name="adj" fmla="val 16000"/>
            </a:avLst>
          </a:prstGeom>
          <a:solidFill>
            <a:srgbClr val="F0F2F1"/>
          </a:solidFill>
          <a:ln>
            <a:noFill/>
          </a:ln>
        </p:spPr>
        <p:txBody>
          <a:bodyPr wrap="square" lIns="128016" tIns="91440" rIns="128016" bIns="9144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2" name="txt481"/>
          <p:cNvSpPr txBox="1"/>
          <p:nvPr/>
        </p:nvSpPr>
        <p:spPr>
          <a:xfrm>
            <a:off x="1060704" y="3081528"/>
            <a:ext cx="4206240" cy="54864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50" b="0" i="1" dirty="0">
                <a:solidFill>
                  <a:srgbClr val="5C6366"/>
                </a:solidFill>
                <a:latin typeface="Calibri"/>
                <a:cs typeface="Calibri"/>
              </a:rPr>
              <a:t>“</a:t>
            </a:r>
            <a:r>
              <a:rPr lang="pt-BR" sz="1300" b="0" i="1" dirty="0">
                <a:solidFill>
                  <a:srgbClr val="5C6366"/>
                </a:solidFill>
                <a:latin typeface="Calibri"/>
                <a:cs typeface="Calibri"/>
              </a:rPr>
              <a:t>Só serve para a empresa ganhar selo.”</a:t>
            </a:r>
          </a:p>
        </p:txBody>
      </p:sp>
      <p:sp>
        <p:nvSpPr>
          <p:cNvPr id="484" name="sh483"/>
          <p:cNvSpPr/>
          <p:nvPr/>
        </p:nvSpPr>
        <p:spPr>
          <a:xfrm>
            <a:off x="5596128" y="3209544"/>
            <a:ext cx="292608" cy="292608"/>
          </a:xfrm>
          <a:prstGeom prst="ellipse">
            <a:avLst/>
          </a:prstGeom>
          <a:solidFill>
            <a:srgbClr val="6FD44B"/>
          </a:solidFill>
          <a:ln>
            <a:noFill/>
          </a:ln>
        </p:spPr>
        <p:txBody>
          <a:bodyPr wrap="square" lIns="128016" tIns="91440" rIns="128016" bIns="9144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86" name="img48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7451" y="3280867"/>
            <a:ext cx="149962" cy="149962"/>
          </a:xfrm>
          <a:prstGeom prst="rect">
            <a:avLst/>
          </a:prstGeom>
        </p:spPr>
      </p:pic>
      <p:sp>
        <p:nvSpPr>
          <p:cNvPr id="488" name="sh487"/>
          <p:cNvSpPr/>
          <p:nvPr/>
        </p:nvSpPr>
        <p:spPr>
          <a:xfrm>
            <a:off x="6053328" y="3081528"/>
            <a:ext cx="5303520" cy="548640"/>
          </a:xfrm>
          <a:prstGeom prst="roundRect">
            <a:avLst>
              <a:gd name="adj" fmla="val 16000"/>
            </a:avLst>
          </a:prstGeom>
          <a:solidFill>
            <a:srgbClr val="F1F8ED"/>
          </a:solidFill>
          <a:ln>
            <a:noFill/>
          </a:ln>
        </p:spPr>
        <p:txBody>
          <a:bodyPr wrap="square" lIns="128016" tIns="91440" rIns="128016" bIns="9144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0" name="txt489"/>
          <p:cNvSpPr txBox="1"/>
          <p:nvPr/>
        </p:nvSpPr>
        <p:spPr>
          <a:xfrm>
            <a:off x="6272784" y="3081528"/>
            <a:ext cx="4882896" cy="54864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 b="0" i="0" dirty="0">
                <a:solidFill>
                  <a:srgbClr val="151618"/>
                </a:solidFill>
                <a:latin typeface="Calibri"/>
                <a:cs typeface="Calibri"/>
              </a:rPr>
              <a:t>O selo é consequência. O que fica é o que muda na escala, no equipamento e na relação</a:t>
            </a:r>
            <a:r>
              <a:rPr lang="pt-BR" sz="1100" b="0" i="0" dirty="0">
                <a:solidFill>
                  <a:srgbClr val="151618"/>
                </a:solidFill>
                <a:latin typeface="Calibri"/>
                <a:cs typeface="Calibri"/>
              </a:rPr>
              <a:t>.</a:t>
            </a:r>
          </a:p>
        </p:txBody>
      </p:sp>
      <p:sp>
        <p:nvSpPr>
          <p:cNvPr id="492" name="sh491"/>
          <p:cNvSpPr/>
          <p:nvPr/>
        </p:nvSpPr>
        <p:spPr>
          <a:xfrm>
            <a:off x="822960" y="3685032"/>
            <a:ext cx="4663440" cy="548640"/>
          </a:xfrm>
          <a:prstGeom prst="roundRect">
            <a:avLst>
              <a:gd name="adj" fmla="val 16000"/>
            </a:avLst>
          </a:prstGeom>
          <a:solidFill>
            <a:srgbClr val="F0F2F1"/>
          </a:solidFill>
          <a:ln>
            <a:noFill/>
          </a:ln>
        </p:spPr>
        <p:txBody>
          <a:bodyPr wrap="square" lIns="128016" tIns="91440" rIns="128016" bIns="9144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4" name="txt493"/>
          <p:cNvSpPr txBox="1"/>
          <p:nvPr/>
        </p:nvSpPr>
        <p:spPr>
          <a:xfrm>
            <a:off x="1060704" y="3685032"/>
            <a:ext cx="4206240" cy="54864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50" b="0" i="1" dirty="0">
                <a:solidFill>
                  <a:srgbClr val="5C6366"/>
                </a:solidFill>
                <a:latin typeface="Calibri"/>
                <a:cs typeface="Calibri"/>
              </a:rPr>
              <a:t>“</a:t>
            </a:r>
            <a:r>
              <a:rPr lang="pt-BR" sz="1300" b="0" i="1" dirty="0">
                <a:solidFill>
                  <a:srgbClr val="5C6366"/>
                </a:solidFill>
                <a:latin typeface="Calibri"/>
                <a:cs typeface="Calibri"/>
              </a:rPr>
              <a:t>Operação nunca é ouvida mesmo.”</a:t>
            </a:r>
          </a:p>
        </p:txBody>
      </p:sp>
      <p:sp>
        <p:nvSpPr>
          <p:cNvPr id="496" name="sh495"/>
          <p:cNvSpPr/>
          <p:nvPr/>
        </p:nvSpPr>
        <p:spPr>
          <a:xfrm>
            <a:off x="5596128" y="3813048"/>
            <a:ext cx="292608" cy="292608"/>
          </a:xfrm>
          <a:prstGeom prst="ellipse">
            <a:avLst/>
          </a:prstGeom>
          <a:solidFill>
            <a:srgbClr val="6FD44B"/>
          </a:solidFill>
          <a:ln>
            <a:noFill/>
          </a:ln>
        </p:spPr>
        <p:txBody>
          <a:bodyPr wrap="square" lIns="128016" tIns="91440" rIns="128016" bIns="9144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98" name="img49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7451" y="3884371"/>
            <a:ext cx="149962" cy="149962"/>
          </a:xfrm>
          <a:prstGeom prst="rect">
            <a:avLst/>
          </a:prstGeom>
        </p:spPr>
      </p:pic>
      <p:sp>
        <p:nvSpPr>
          <p:cNvPr id="500" name="sh499"/>
          <p:cNvSpPr/>
          <p:nvPr/>
        </p:nvSpPr>
        <p:spPr>
          <a:xfrm>
            <a:off x="6053328" y="3685032"/>
            <a:ext cx="5303520" cy="548640"/>
          </a:xfrm>
          <a:prstGeom prst="roundRect">
            <a:avLst>
              <a:gd name="adj" fmla="val 16000"/>
            </a:avLst>
          </a:prstGeom>
          <a:solidFill>
            <a:srgbClr val="F1F8ED"/>
          </a:solidFill>
          <a:ln>
            <a:noFill/>
          </a:ln>
        </p:spPr>
        <p:txBody>
          <a:bodyPr wrap="square" lIns="128016" tIns="91440" rIns="128016" bIns="9144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2" name="txt501"/>
          <p:cNvSpPr txBox="1"/>
          <p:nvPr/>
        </p:nvSpPr>
        <p:spPr>
          <a:xfrm>
            <a:off x="6272784" y="3685032"/>
            <a:ext cx="4882896" cy="54864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 b="0" i="0" dirty="0">
                <a:solidFill>
                  <a:srgbClr val="151618"/>
                </a:solidFill>
                <a:latin typeface="Calibri"/>
                <a:cs typeface="Calibri"/>
              </a:rPr>
              <a:t>Operação é a maior parte do quadro. Sem a nossa resposta, o resultado não representa ninguém</a:t>
            </a:r>
            <a:r>
              <a:rPr lang="pt-BR" sz="1100" b="0" i="0" dirty="0">
                <a:solidFill>
                  <a:srgbClr val="151618"/>
                </a:solidFill>
                <a:latin typeface="Calibri"/>
                <a:cs typeface="Calibri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txt591"/>
          <p:cNvSpPr txBox="1"/>
          <p:nvPr/>
        </p:nvSpPr>
        <p:spPr>
          <a:xfrm>
            <a:off x="804672" y="1444752"/>
            <a:ext cx="3200400" cy="29260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50" b="1" i="0" cap="all" spc="170" dirty="0">
                <a:solidFill>
                  <a:srgbClr val="6FD44B"/>
                </a:solidFill>
                <a:latin typeface="Calibri"/>
                <a:cs typeface="Calibri"/>
              </a:rPr>
              <a:t>Próximo passo</a:t>
            </a:r>
          </a:p>
        </p:txBody>
      </p:sp>
      <p:sp>
        <p:nvSpPr>
          <p:cNvPr id="594" name="txt593"/>
          <p:cNvSpPr txBox="1"/>
          <p:nvPr/>
        </p:nvSpPr>
        <p:spPr>
          <a:xfrm>
            <a:off x="777240" y="1810512"/>
            <a:ext cx="3337560" cy="146304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500" b="1" i="0" dirty="0" err="1" smtClean="0">
                <a:solidFill>
                  <a:srgbClr val="FFFFFF"/>
                </a:solidFill>
                <a:latin typeface="Calibri"/>
                <a:cs typeface="Calibri"/>
              </a:rPr>
              <a:t>Estapower</a:t>
            </a:r>
            <a:endParaRPr lang="pt-BR" sz="4500" b="1" i="0" dirty="0">
              <a:solidFill>
                <a:srgbClr val="FFFFFF"/>
              </a:solidFill>
              <a:latin typeface="Calibri"/>
              <a:cs typeface="Calibri"/>
            </a:endParaRPr>
          </a:p>
        </p:txBody>
      </p:sp>
      <p:sp>
        <p:nvSpPr>
          <p:cNvPr id="596" name="txt595"/>
          <p:cNvSpPr txBox="1"/>
          <p:nvPr/>
        </p:nvSpPr>
        <p:spPr>
          <a:xfrm>
            <a:off x="804672" y="3364992"/>
            <a:ext cx="3246120" cy="15544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None/>
            </a:pPr>
            <a:endParaRPr lang="pt-BR" sz="1350" b="1" i="0" dirty="0">
              <a:solidFill>
                <a:srgbClr val="73E0C1"/>
              </a:solidFill>
              <a:latin typeface="Calibri"/>
              <a:cs typeface="Calibri"/>
            </a:endParaRPr>
          </a:p>
        </p:txBody>
      </p:sp>
      <p:sp>
        <p:nvSpPr>
          <p:cNvPr id="5" name="txt105"/>
          <p:cNvSpPr txBox="1"/>
          <p:nvPr/>
        </p:nvSpPr>
        <p:spPr>
          <a:xfrm>
            <a:off x="804672" y="2743200"/>
            <a:ext cx="4206240" cy="38404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 smtClean="0">
                <a:solidFill>
                  <a:srgbClr val="73E0C1"/>
                </a:solidFill>
                <a:latin typeface="Calibri"/>
                <a:cs typeface="Calibri"/>
              </a:rPr>
              <a:t>Resultado 1ª semestre 2026</a:t>
            </a:r>
            <a:endParaRPr lang="pt-BR" sz="1600" b="1" i="0" dirty="0">
              <a:solidFill>
                <a:srgbClr val="73E0C1"/>
              </a:solidFill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txt307"/>
          <p:cNvSpPr txBox="1"/>
          <p:nvPr/>
        </p:nvSpPr>
        <p:spPr>
          <a:xfrm>
            <a:off x="777240" y="457200"/>
            <a:ext cx="9052560" cy="71323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200" b="1" i="0" dirty="0" smtClean="0">
                <a:solidFill>
                  <a:srgbClr val="151618"/>
                </a:solidFill>
                <a:latin typeface="Calibri"/>
                <a:cs typeface="Calibri"/>
              </a:rPr>
              <a:t>Resultado 1ª semestre 2026</a:t>
            </a:r>
            <a:endParaRPr lang="pt-BR" sz="3200" b="1" i="0" dirty="0">
              <a:solidFill>
                <a:srgbClr val="151618"/>
              </a:solidFill>
              <a:latin typeface="Calibri"/>
              <a:cs typeface="Calibri"/>
            </a:endParaRPr>
          </a:p>
        </p:txBody>
      </p:sp>
      <p:sp>
        <p:nvSpPr>
          <p:cNvPr id="328" name="txt327"/>
          <p:cNvSpPr txBox="1"/>
          <p:nvPr/>
        </p:nvSpPr>
        <p:spPr>
          <a:xfrm>
            <a:off x="7178040" y="2066544"/>
            <a:ext cx="4023360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50" b="1" i="0" dirty="0">
                <a:solidFill>
                  <a:srgbClr val="FFFFFF"/>
                </a:solidFill>
                <a:latin typeface="Calibri"/>
                <a:cs typeface="Calibri"/>
              </a:rPr>
              <a:t>O que a empresa não vê</a:t>
            </a:r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240" y="1171686"/>
            <a:ext cx="6112957" cy="5506712"/>
          </a:xfrm>
          <a:prstGeom prst="rect">
            <a:avLst/>
          </a:prstGeom>
        </p:spPr>
      </p:pic>
      <p:sp>
        <p:nvSpPr>
          <p:cNvPr id="15" name="sh313"/>
          <p:cNvSpPr/>
          <p:nvPr/>
        </p:nvSpPr>
        <p:spPr>
          <a:xfrm>
            <a:off x="7178040" y="1560404"/>
            <a:ext cx="475488" cy="475488"/>
          </a:xfrm>
          <a:prstGeom prst="ellipse">
            <a:avLst/>
          </a:prstGeom>
          <a:solidFill>
            <a:srgbClr val="6FD44B"/>
          </a:solidFill>
          <a:ln>
            <a:noFill/>
          </a:ln>
        </p:spPr>
        <p:txBody>
          <a:bodyPr wrap="square" lIns="128016" tIns="91440" rIns="128016" bIns="9144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6" name="img3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96912" y="1682496"/>
            <a:ext cx="237744" cy="237744"/>
          </a:xfrm>
          <a:prstGeom prst="rect">
            <a:avLst/>
          </a:prstGeom>
        </p:spPr>
      </p:pic>
      <p:sp>
        <p:nvSpPr>
          <p:cNvPr id="17" name="txt317"/>
          <p:cNvSpPr txBox="1"/>
          <p:nvPr/>
        </p:nvSpPr>
        <p:spPr>
          <a:xfrm>
            <a:off x="7772400" y="1633556"/>
            <a:ext cx="4023360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50" b="1" dirty="0" smtClean="0">
                <a:solidFill>
                  <a:srgbClr val="151618"/>
                </a:solidFill>
                <a:latin typeface="Calibri"/>
                <a:cs typeface="Calibri"/>
              </a:rPr>
              <a:t>Pontos de atenção !!!</a:t>
            </a:r>
            <a:endParaRPr lang="pt-BR" sz="1650" b="1" i="0" dirty="0">
              <a:solidFill>
                <a:srgbClr val="151618"/>
              </a:solidFill>
              <a:latin typeface="Calibri"/>
              <a:cs typeface="Calibri"/>
            </a:endParaRPr>
          </a:p>
        </p:txBody>
      </p:sp>
      <p:sp>
        <p:nvSpPr>
          <p:cNvPr id="18" name="txt319"/>
          <p:cNvSpPr txBox="1"/>
          <p:nvPr/>
        </p:nvSpPr>
        <p:spPr>
          <a:xfrm>
            <a:off x="7178040" y="2304288"/>
            <a:ext cx="4526280" cy="12801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219456" indent="-219456" algn="l">
              <a:lnSpc>
                <a:spcPct val="106000"/>
              </a:lnSpc>
              <a:spcBef>
                <a:spcPts val="0"/>
              </a:spcBef>
              <a:spcAft>
                <a:spcPts val="900"/>
              </a:spcAft>
              <a:buClr>
                <a:srgbClr val="6FD44B"/>
              </a:buClr>
              <a:buFont typeface="Arial"/>
              <a:buChar char="•"/>
            </a:pPr>
            <a:r>
              <a:rPr lang="pt-BR" sz="1500" dirty="0" smtClean="0">
                <a:solidFill>
                  <a:srgbClr val="5C6366"/>
                </a:solidFill>
                <a:latin typeface="Calibri"/>
                <a:cs typeface="Calibri"/>
              </a:rPr>
              <a:t>Ocorrência trabalhista (gestão de ponto)</a:t>
            </a:r>
            <a:endParaRPr lang="pt-BR" sz="1500" b="0" i="0" dirty="0">
              <a:solidFill>
                <a:srgbClr val="5C6366"/>
              </a:solidFill>
              <a:latin typeface="Calibri"/>
              <a:cs typeface="Calibri"/>
            </a:endParaRPr>
          </a:p>
          <a:p>
            <a:pPr marL="219456" indent="-219456" algn="l">
              <a:lnSpc>
                <a:spcPct val="106000"/>
              </a:lnSpc>
              <a:spcBef>
                <a:spcPts val="0"/>
              </a:spcBef>
              <a:spcAft>
                <a:spcPts val="900"/>
              </a:spcAft>
              <a:buClr>
                <a:srgbClr val="6FD44B"/>
              </a:buClr>
              <a:buFont typeface="Arial"/>
              <a:buChar char="•"/>
            </a:pPr>
            <a:r>
              <a:rPr lang="pt-BR" sz="1500" dirty="0" smtClean="0">
                <a:solidFill>
                  <a:srgbClr val="5C6366"/>
                </a:solidFill>
                <a:latin typeface="Calibri"/>
                <a:cs typeface="Calibri"/>
              </a:rPr>
              <a:t>Prestação de contas</a:t>
            </a:r>
            <a:endParaRPr lang="pt-BR" sz="1500" b="0" i="0" dirty="0">
              <a:solidFill>
                <a:srgbClr val="5C6366"/>
              </a:solidFill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4389556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txt101"/>
          <p:cNvSpPr txBox="1"/>
          <p:nvPr/>
        </p:nvSpPr>
        <p:spPr>
          <a:xfrm>
            <a:off x="777240" y="384048"/>
            <a:ext cx="7772400" cy="56692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 b="1" i="0" dirty="0">
                <a:solidFill>
                  <a:srgbClr val="151618"/>
                </a:solidFill>
                <a:latin typeface="Calibri"/>
                <a:cs typeface="Calibri"/>
              </a:rPr>
              <a:t>Resultado 1º Semestre 2026</a:t>
            </a:r>
          </a:p>
        </p:txBody>
      </p:sp>
      <p:sp>
        <p:nvSpPr>
          <p:cNvPr id="104" name="txt103"/>
          <p:cNvSpPr txBox="1"/>
          <p:nvPr/>
        </p:nvSpPr>
        <p:spPr>
          <a:xfrm>
            <a:off x="795528" y="896112"/>
            <a:ext cx="7772400" cy="32004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 b="0" i="0" dirty="0">
                <a:solidFill>
                  <a:srgbClr val="5C6366"/>
                </a:solidFill>
                <a:latin typeface="Calibri"/>
                <a:cs typeface="Calibri"/>
              </a:rPr>
              <a:t>Distribuição de garagens por linha de operação</a:t>
            </a:r>
          </a:p>
        </p:txBody>
      </p:sp>
      <p:sp>
        <p:nvSpPr>
          <p:cNvPr id="106" name="sh105"/>
          <p:cNvSpPr/>
          <p:nvPr/>
        </p:nvSpPr>
        <p:spPr>
          <a:xfrm>
            <a:off x="777240" y="1417320"/>
            <a:ext cx="7178040" cy="5074920"/>
          </a:xfrm>
          <a:prstGeom prst="roundRect">
            <a:avLst>
              <a:gd name="adj" fmla="val 3200"/>
            </a:avLst>
          </a:prstGeom>
          <a:solidFill>
            <a:srgbClr val="F1F8ED"/>
          </a:solidFill>
          <a:ln>
            <a:noFill/>
          </a:ln>
        </p:spPr>
        <p:txBody>
          <a:bodyPr wrap="square" lIns="128016" tIns="91440" rIns="128016" bIns="9144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txt107"/>
          <p:cNvSpPr txBox="1"/>
          <p:nvPr/>
        </p:nvSpPr>
        <p:spPr>
          <a:xfrm>
            <a:off x="1051560" y="1600200"/>
            <a:ext cx="3108960" cy="4572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100" b="1" i="0" spc="40" dirty="0">
                <a:solidFill>
                  <a:srgbClr val="3FA828"/>
                </a:solidFill>
                <a:latin typeface="Calibri"/>
                <a:cs typeface="Calibri"/>
              </a:rPr>
              <a:t>POWER</a:t>
            </a:r>
          </a:p>
        </p:txBody>
      </p:sp>
      <p:sp>
        <p:nvSpPr>
          <p:cNvPr id="110" name="sh109"/>
          <p:cNvSpPr/>
          <p:nvPr/>
        </p:nvSpPr>
        <p:spPr>
          <a:xfrm>
            <a:off x="3589020" y="1586420"/>
            <a:ext cx="1417320" cy="365760"/>
          </a:xfrm>
          <a:prstGeom prst="roundRect">
            <a:avLst>
              <a:gd name="adj" fmla="val 50000"/>
            </a:avLst>
          </a:prstGeom>
          <a:solidFill>
            <a:srgbClr val="151618"/>
          </a:solidFill>
          <a:ln>
            <a:noFill/>
          </a:ln>
        </p:spPr>
        <p:txBody>
          <a:bodyPr wrap="square" lIns="45720" tIns="0" rIns="4572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 b="1" dirty="0" smtClean="0">
                <a:solidFill>
                  <a:srgbClr val="FFFFFF"/>
                </a:solidFill>
                <a:latin typeface="Calibri"/>
                <a:cs typeface="Calibri"/>
              </a:rPr>
              <a:t>29</a:t>
            </a:r>
            <a:r>
              <a:rPr lang="pt-BR" sz="1000" b="1" i="0" dirty="0" smtClean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pt-BR" sz="1000" b="1" i="0" dirty="0">
                <a:solidFill>
                  <a:srgbClr val="FFFFFF"/>
                </a:solidFill>
                <a:latin typeface="Calibri"/>
                <a:cs typeface="Calibri"/>
              </a:rPr>
              <a:t>unidades</a:t>
            </a:r>
          </a:p>
        </p:txBody>
      </p:sp>
      <p:sp>
        <p:nvSpPr>
          <p:cNvPr id="112" name="txt111"/>
          <p:cNvSpPr txBox="1"/>
          <p:nvPr/>
        </p:nvSpPr>
        <p:spPr>
          <a:xfrm>
            <a:off x="1051560" y="2130552"/>
            <a:ext cx="3177540" cy="38404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128016" indent="-128016" algn="l">
              <a:lnSpc>
                <a:spcPct val="108000"/>
              </a:lnSpc>
              <a:spcBef>
                <a:spcPts val="120"/>
              </a:spcBef>
              <a:spcAft>
                <a:spcPts val="0"/>
              </a:spcAft>
              <a:buClr>
                <a:srgbClr val="6FD44B"/>
              </a:buClr>
              <a:buSzPct val="55000"/>
              <a:buFont typeface="Arial"/>
              <a:buChar char="•"/>
            </a:pPr>
            <a:r>
              <a:rPr lang="pt-BR" sz="1000" b="0" i="0" dirty="0">
                <a:solidFill>
                  <a:srgbClr val="151618"/>
                </a:solidFill>
                <a:latin typeface="Calibri"/>
                <a:cs typeface="Calibri"/>
              </a:rPr>
              <a:t>Ed Com Botafogo</a:t>
            </a:r>
          </a:p>
          <a:p>
            <a:pPr marL="128016" indent="-128016" algn="l">
              <a:lnSpc>
                <a:spcPct val="108000"/>
              </a:lnSpc>
              <a:spcBef>
                <a:spcPts val="120"/>
              </a:spcBef>
              <a:spcAft>
                <a:spcPts val="0"/>
              </a:spcAft>
              <a:buClr>
                <a:srgbClr val="6FD44B"/>
              </a:buClr>
              <a:buSzPct val="55000"/>
              <a:buFont typeface="Arial"/>
              <a:buChar char="•"/>
            </a:pPr>
            <a:r>
              <a:rPr lang="pt-BR" sz="1000" b="0" i="0" dirty="0">
                <a:solidFill>
                  <a:srgbClr val="151618"/>
                </a:solidFill>
                <a:latin typeface="Calibri"/>
                <a:cs typeface="Calibri"/>
              </a:rPr>
              <a:t>Ce Com Jardim Botafogo</a:t>
            </a:r>
          </a:p>
          <a:p>
            <a:pPr marL="128016" indent="-128016" algn="l">
              <a:lnSpc>
                <a:spcPct val="108000"/>
              </a:lnSpc>
              <a:spcBef>
                <a:spcPts val="120"/>
              </a:spcBef>
              <a:spcAft>
                <a:spcPts val="0"/>
              </a:spcAft>
              <a:buClr>
                <a:srgbClr val="6FD44B"/>
              </a:buClr>
              <a:buSzPct val="55000"/>
              <a:buFont typeface="Arial"/>
              <a:buChar char="•"/>
            </a:pPr>
            <a:r>
              <a:rPr lang="pt-BR" sz="1000" b="0" i="0" dirty="0">
                <a:solidFill>
                  <a:srgbClr val="151618"/>
                </a:solidFill>
                <a:latin typeface="Calibri"/>
                <a:cs typeface="Calibri"/>
              </a:rPr>
              <a:t>Banco BBD Botafogo</a:t>
            </a:r>
          </a:p>
          <a:p>
            <a:pPr marL="128016" indent="-128016" algn="l">
              <a:lnSpc>
                <a:spcPct val="108000"/>
              </a:lnSpc>
              <a:spcBef>
                <a:spcPts val="120"/>
              </a:spcBef>
              <a:spcAft>
                <a:spcPts val="0"/>
              </a:spcAft>
              <a:buClr>
                <a:srgbClr val="6FD44B"/>
              </a:buClr>
              <a:buSzPct val="55000"/>
              <a:buFont typeface="Arial"/>
              <a:buChar char="•"/>
            </a:pPr>
            <a:r>
              <a:rPr lang="pt-BR" sz="1000" b="0" i="0" dirty="0">
                <a:solidFill>
                  <a:srgbClr val="151618"/>
                </a:solidFill>
                <a:latin typeface="Calibri"/>
                <a:cs typeface="Calibri"/>
              </a:rPr>
              <a:t>Centro FGV</a:t>
            </a:r>
          </a:p>
          <a:p>
            <a:pPr marL="128016" indent="-128016" algn="l">
              <a:lnSpc>
                <a:spcPct val="108000"/>
              </a:lnSpc>
              <a:spcBef>
                <a:spcPts val="120"/>
              </a:spcBef>
              <a:spcAft>
                <a:spcPts val="0"/>
              </a:spcAft>
              <a:buClr>
                <a:srgbClr val="6FD44B"/>
              </a:buClr>
              <a:buSzPct val="55000"/>
              <a:buFont typeface="Arial"/>
              <a:buChar char="•"/>
            </a:pPr>
            <a:r>
              <a:rPr lang="pt-BR" sz="1000" b="0" i="0" dirty="0" smtClean="0">
                <a:solidFill>
                  <a:srgbClr val="151618"/>
                </a:solidFill>
                <a:latin typeface="Calibri"/>
                <a:cs typeface="Calibri"/>
              </a:rPr>
              <a:t>Ed</a:t>
            </a:r>
            <a:r>
              <a:rPr lang="pt-BR" sz="1000" b="0" i="0" dirty="0">
                <a:solidFill>
                  <a:srgbClr val="151618"/>
                </a:solidFill>
                <a:latin typeface="Calibri"/>
                <a:cs typeface="Calibri"/>
              </a:rPr>
              <a:t>. Com. Internacional Rio</a:t>
            </a:r>
          </a:p>
          <a:p>
            <a:pPr marL="128016" indent="-128016" algn="l">
              <a:lnSpc>
                <a:spcPct val="108000"/>
              </a:lnSpc>
              <a:spcBef>
                <a:spcPts val="120"/>
              </a:spcBef>
              <a:spcAft>
                <a:spcPts val="0"/>
              </a:spcAft>
              <a:buClr>
                <a:srgbClr val="6FD44B"/>
              </a:buClr>
              <a:buSzPct val="55000"/>
              <a:buFont typeface="Arial"/>
              <a:buChar char="•"/>
            </a:pPr>
            <a:r>
              <a:rPr lang="pt-BR" sz="1000" b="0" i="0" dirty="0">
                <a:solidFill>
                  <a:srgbClr val="151618"/>
                </a:solidFill>
                <a:latin typeface="Calibri"/>
                <a:cs typeface="Calibri"/>
              </a:rPr>
              <a:t>Ed. Gar. Nove de Julho Botafogo</a:t>
            </a:r>
          </a:p>
          <a:p>
            <a:pPr marL="128016" indent="-128016" algn="l">
              <a:lnSpc>
                <a:spcPct val="108000"/>
              </a:lnSpc>
              <a:spcBef>
                <a:spcPts val="120"/>
              </a:spcBef>
              <a:spcAft>
                <a:spcPts val="0"/>
              </a:spcAft>
              <a:buClr>
                <a:srgbClr val="6FD44B"/>
              </a:buClr>
              <a:buSzPct val="55000"/>
              <a:buFont typeface="Arial"/>
              <a:buChar char="•"/>
            </a:pPr>
            <a:r>
              <a:rPr lang="pt-BR" sz="1000" b="0" i="0" dirty="0">
                <a:solidFill>
                  <a:srgbClr val="151618"/>
                </a:solidFill>
                <a:latin typeface="Calibri"/>
                <a:cs typeface="Calibri"/>
              </a:rPr>
              <a:t>Hotel Ibis Praia de Botafogo</a:t>
            </a:r>
          </a:p>
          <a:p>
            <a:pPr marL="128016" indent="-128016" algn="l">
              <a:lnSpc>
                <a:spcPct val="108000"/>
              </a:lnSpc>
              <a:spcBef>
                <a:spcPts val="120"/>
              </a:spcBef>
              <a:spcAft>
                <a:spcPts val="0"/>
              </a:spcAft>
              <a:buClr>
                <a:srgbClr val="6FD44B"/>
              </a:buClr>
              <a:buSzPct val="55000"/>
              <a:buFont typeface="Arial"/>
              <a:buChar char="•"/>
            </a:pPr>
            <a:r>
              <a:rPr lang="pt-BR" sz="1000" b="0" i="0" dirty="0">
                <a:solidFill>
                  <a:srgbClr val="151618"/>
                </a:solidFill>
                <a:latin typeface="Calibri"/>
                <a:cs typeface="Calibri"/>
              </a:rPr>
              <a:t>Terr. Muniz Barreto</a:t>
            </a:r>
          </a:p>
          <a:p>
            <a:pPr marL="128016" indent="-128016" algn="l">
              <a:lnSpc>
                <a:spcPct val="108000"/>
              </a:lnSpc>
              <a:spcBef>
                <a:spcPts val="120"/>
              </a:spcBef>
              <a:spcAft>
                <a:spcPts val="0"/>
              </a:spcAft>
              <a:buClr>
                <a:srgbClr val="6FD44B"/>
              </a:buClr>
              <a:buSzPct val="55000"/>
              <a:buFont typeface="Arial"/>
              <a:buChar char="•"/>
            </a:pPr>
            <a:r>
              <a:rPr lang="pt-BR" sz="1000" b="0" i="0" dirty="0">
                <a:solidFill>
                  <a:srgbClr val="151618"/>
                </a:solidFill>
                <a:latin typeface="Calibri"/>
                <a:cs typeface="Calibri"/>
              </a:rPr>
              <a:t>Ce Com Mourisco</a:t>
            </a:r>
          </a:p>
          <a:p>
            <a:pPr marL="128016" indent="-128016" algn="l">
              <a:lnSpc>
                <a:spcPct val="108000"/>
              </a:lnSpc>
              <a:spcBef>
                <a:spcPts val="120"/>
              </a:spcBef>
              <a:spcAft>
                <a:spcPts val="0"/>
              </a:spcAft>
              <a:buClr>
                <a:srgbClr val="6FD44B"/>
              </a:buClr>
              <a:buSzPct val="55000"/>
              <a:buFont typeface="Arial"/>
              <a:buChar char="•"/>
            </a:pPr>
            <a:r>
              <a:rPr lang="pt-BR" sz="1000" b="0" i="0" dirty="0">
                <a:solidFill>
                  <a:srgbClr val="151618"/>
                </a:solidFill>
                <a:latin typeface="Calibri"/>
                <a:cs typeface="Calibri"/>
              </a:rPr>
              <a:t>Hotel Ibis Botafogo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 b="0" i="0" dirty="0" smtClean="0">
                <a:solidFill>
                  <a:srgbClr val="151618"/>
                </a:solidFill>
                <a:latin typeface="Calibri"/>
                <a:cs typeface="Calibri"/>
              </a:rPr>
              <a:t> </a:t>
            </a:r>
            <a:endParaRPr lang="pt-BR" sz="1000" b="0" i="0" dirty="0">
              <a:solidFill>
                <a:srgbClr val="151618"/>
              </a:solidFill>
              <a:latin typeface="Calibri"/>
              <a:cs typeface="Calibri"/>
            </a:endParaRPr>
          </a:p>
          <a:p>
            <a:pPr marL="128016" indent="-128016" algn="l">
              <a:lnSpc>
                <a:spcPct val="108000"/>
              </a:lnSpc>
              <a:spcBef>
                <a:spcPts val="120"/>
              </a:spcBef>
              <a:spcAft>
                <a:spcPts val="0"/>
              </a:spcAft>
              <a:buClr>
                <a:srgbClr val="6FD44B"/>
              </a:buClr>
              <a:buSzPct val="55000"/>
              <a:buFont typeface="Arial"/>
              <a:buChar char="•"/>
            </a:pPr>
            <a:r>
              <a:rPr lang="pt-BR" sz="1000" b="0" i="0" dirty="0">
                <a:solidFill>
                  <a:srgbClr val="151618"/>
                </a:solidFill>
                <a:latin typeface="Calibri"/>
                <a:cs typeface="Calibri"/>
              </a:rPr>
              <a:t>Shop Pátio Petrópolis</a:t>
            </a:r>
          </a:p>
          <a:p>
            <a:pPr marL="128016" indent="-128016" algn="l">
              <a:lnSpc>
                <a:spcPct val="108000"/>
              </a:lnSpc>
              <a:spcBef>
                <a:spcPts val="120"/>
              </a:spcBef>
              <a:spcAft>
                <a:spcPts val="0"/>
              </a:spcAft>
              <a:buClr>
                <a:srgbClr val="6FD44B"/>
              </a:buClr>
              <a:buSzPct val="55000"/>
              <a:buFont typeface="Arial"/>
              <a:buChar char="•"/>
            </a:pPr>
            <a:r>
              <a:rPr lang="pt-BR" sz="1000" b="0" i="0" dirty="0">
                <a:solidFill>
                  <a:srgbClr val="151618"/>
                </a:solidFill>
                <a:latin typeface="Calibri"/>
                <a:cs typeface="Calibri"/>
              </a:rPr>
              <a:t>Ed Gar Paulo Barbosa</a:t>
            </a:r>
          </a:p>
          <a:p>
            <a:pPr marL="128016" indent="-128016" algn="l">
              <a:lnSpc>
                <a:spcPct val="108000"/>
              </a:lnSpc>
              <a:spcBef>
                <a:spcPts val="120"/>
              </a:spcBef>
              <a:spcAft>
                <a:spcPts val="0"/>
              </a:spcAft>
              <a:buClr>
                <a:srgbClr val="6FD44B"/>
              </a:buClr>
              <a:buSzPct val="55000"/>
              <a:buFont typeface="Arial"/>
              <a:buChar char="•"/>
            </a:pPr>
            <a:r>
              <a:rPr lang="pt-BR" sz="1000" b="0" i="0" dirty="0">
                <a:solidFill>
                  <a:srgbClr val="151618"/>
                </a:solidFill>
                <a:latin typeface="Calibri"/>
                <a:cs typeface="Calibri"/>
              </a:rPr>
              <a:t>Shop Paulo Barbosa</a:t>
            </a:r>
          </a:p>
          <a:p>
            <a:pPr marL="128016" indent="-128016" algn="l">
              <a:lnSpc>
                <a:spcPct val="108000"/>
              </a:lnSpc>
              <a:spcBef>
                <a:spcPts val="120"/>
              </a:spcBef>
              <a:spcAft>
                <a:spcPts val="0"/>
              </a:spcAft>
              <a:buClr>
                <a:srgbClr val="6FD44B"/>
              </a:buClr>
              <a:buSzPct val="55000"/>
              <a:buFont typeface="Arial"/>
              <a:buChar char="•"/>
            </a:pPr>
            <a:r>
              <a:rPr lang="pt-BR" sz="1000" b="0" i="0" dirty="0">
                <a:solidFill>
                  <a:srgbClr val="151618"/>
                </a:solidFill>
                <a:latin typeface="Calibri"/>
                <a:cs typeface="Calibri"/>
              </a:rPr>
              <a:t>Shop Via Thereza</a:t>
            </a:r>
          </a:p>
          <a:p>
            <a:pPr marL="128016" indent="-128016" algn="l">
              <a:lnSpc>
                <a:spcPct val="108000"/>
              </a:lnSpc>
              <a:spcBef>
                <a:spcPts val="120"/>
              </a:spcBef>
              <a:spcAft>
                <a:spcPts val="0"/>
              </a:spcAft>
              <a:buClr>
                <a:srgbClr val="6FD44B"/>
              </a:buClr>
              <a:buSzPct val="55000"/>
              <a:buFont typeface="Arial"/>
              <a:buChar char="•"/>
            </a:pPr>
            <a:r>
              <a:rPr lang="pt-BR" sz="1000" b="0" i="0" dirty="0">
                <a:solidFill>
                  <a:srgbClr val="151618"/>
                </a:solidFill>
                <a:latin typeface="Calibri"/>
                <a:cs typeface="Calibri"/>
              </a:rPr>
              <a:t>Shop Vila Katarina</a:t>
            </a:r>
          </a:p>
          <a:p>
            <a:pPr marL="128016" indent="-128016" algn="l">
              <a:lnSpc>
                <a:spcPct val="108000"/>
              </a:lnSpc>
              <a:spcBef>
                <a:spcPts val="120"/>
              </a:spcBef>
              <a:spcAft>
                <a:spcPts val="0"/>
              </a:spcAft>
              <a:buClr>
                <a:srgbClr val="6FD44B"/>
              </a:buClr>
              <a:buSzPct val="55000"/>
              <a:buFont typeface="Arial"/>
              <a:buChar char="•"/>
            </a:pPr>
            <a:r>
              <a:rPr lang="pt-BR" sz="1000" b="0" i="0" dirty="0">
                <a:solidFill>
                  <a:srgbClr val="151618"/>
                </a:solidFill>
                <a:latin typeface="Calibri"/>
                <a:cs typeface="Calibri"/>
              </a:rPr>
              <a:t>Terr Paulo Barbosa</a:t>
            </a:r>
          </a:p>
          <a:p>
            <a:pPr marL="128016" indent="-128016" algn="l">
              <a:lnSpc>
                <a:spcPct val="108000"/>
              </a:lnSpc>
              <a:spcBef>
                <a:spcPts val="120"/>
              </a:spcBef>
              <a:spcAft>
                <a:spcPts val="0"/>
              </a:spcAft>
              <a:buClr>
                <a:srgbClr val="6FD44B"/>
              </a:buClr>
              <a:buSzPct val="55000"/>
              <a:buFont typeface="Arial"/>
              <a:buChar char="•"/>
            </a:pPr>
            <a:r>
              <a:rPr lang="pt-BR" sz="1000" b="0" i="0" dirty="0">
                <a:solidFill>
                  <a:srgbClr val="151618"/>
                </a:solidFill>
                <a:latin typeface="Calibri"/>
                <a:cs typeface="Calibri"/>
              </a:rPr>
              <a:t>Hosp. Caxias, D'Or</a:t>
            </a:r>
          </a:p>
          <a:p>
            <a:pPr marL="128016" indent="-128016" algn="l">
              <a:lnSpc>
                <a:spcPct val="108000"/>
              </a:lnSpc>
              <a:spcBef>
                <a:spcPts val="120"/>
              </a:spcBef>
              <a:spcAft>
                <a:spcPts val="0"/>
              </a:spcAft>
              <a:buClr>
                <a:srgbClr val="6FD44B"/>
              </a:buClr>
              <a:buSzPct val="55000"/>
              <a:buFont typeface="Arial"/>
              <a:buChar char="•"/>
            </a:pPr>
            <a:r>
              <a:rPr lang="pt-BR" sz="1000" b="0" i="0" dirty="0">
                <a:solidFill>
                  <a:srgbClr val="151618"/>
                </a:solidFill>
                <a:latin typeface="Calibri"/>
                <a:cs typeface="Calibri"/>
              </a:rPr>
              <a:t>Banco BBD </a:t>
            </a:r>
            <a:r>
              <a:rPr lang="pt-BR" sz="1000" b="0" i="0" dirty="0" smtClean="0">
                <a:solidFill>
                  <a:srgbClr val="151618"/>
                </a:solidFill>
                <a:latin typeface="Calibri"/>
                <a:cs typeface="Calibri"/>
              </a:rPr>
              <a:t>Teresópolis</a:t>
            </a:r>
          </a:p>
        </p:txBody>
      </p:sp>
      <p:sp>
        <p:nvSpPr>
          <p:cNvPr id="114" name="txt113"/>
          <p:cNvSpPr txBox="1"/>
          <p:nvPr/>
        </p:nvSpPr>
        <p:spPr>
          <a:xfrm>
            <a:off x="4457700" y="2130552"/>
            <a:ext cx="3177540" cy="38404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128016" indent="-128016" algn="l">
              <a:lnSpc>
                <a:spcPct val="108000"/>
              </a:lnSpc>
              <a:spcBef>
                <a:spcPts val="120"/>
              </a:spcBef>
              <a:spcAft>
                <a:spcPts val="0"/>
              </a:spcAft>
              <a:buClr>
                <a:srgbClr val="6FD44B"/>
              </a:buClr>
              <a:buSzPct val="55000"/>
              <a:buFont typeface="Arial"/>
              <a:buChar char="•"/>
            </a:pPr>
            <a:r>
              <a:rPr lang="pt-BR" sz="1000" b="0" i="0" dirty="0" smtClean="0">
                <a:solidFill>
                  <a:srgbClr val="151618"/>
                </a:solidFill>
                <a:latin typeface="Calibri"/>
                <a:cs typeface="Calibri"/>
              </a:rPr>
              <a:t>Terr</a:t>
            </a:r>
            <a:r>
              <a:rPr lang="pt-BR" sz="1000" b="0" i="0" dirty="0">
                <a:solidFill>
                  <a:srgbClr val="151618"/>
                </a:solidFill>
                <a:latin typeface="Calibri"/>
                <a:cs typeface="Calibri"/>
              </a:rPr>
              <a:t>. Méier Off Shop</a:t>
            </a:r>
            <a:r>
              <a:rPr lang="pt-BR" sz="1000" b="0" i="0" dirty="0">
                <a:solidFill>
                  <a:srgbClr val="8A9295"/>
                </a:solidFill>
                <a:latin typeface="Calibri"/>
                <a:cs typeface="Calibri"/>
              </a:rPr>
              <a:t>  </a:t>
            </a:r>
          </a:p>
          <a:p>
            <a:pPr marL="128016" indent="-128016" algn="l">
              <a:lnSpc>
                <a:spcPct val="108000"/>
              </a:lnSpc>
              <a:spcBef>
                <a:spcPts val="120"/>
              </a:spcBef>
              <a:spcAft>
                <a:spcPts val="0"/>
              </a:spcAft>
              <a:buClr>
                <a:srgbClr val="6FD44B"/>
              </a:buClr>
              <a:buSzPct val="55000"/>
              <a:buFont typeface="Arial"/>
              <a:buChar char="•"/>
            </a:pPr>
            <a:r>
              <a:rPr lang="pt-BR" sz="1000" b="0" i="0" dirty="0">
                <a:solidFill>
                  <a:srgbClr val="151618"/>
                </a:solidFill>
                <a:latin typeface="Calibri"/>
                <a:cs typeface="Calibri"/>
              </a:rPr>
              <a:t>Shop. Madureira</a:t>
            </a:r>
            <a:r>
              <a:rPr lang="pt-BR" sz="1000" b="0" i="0" dirty="0">
                <a:solidFill>
                  <a:srgbClr val="8A9295"/>
                </a:solidFill>
                <a:latin typeface="Calibri"/>
                <a:cs typeface="Calibri"/>
              </a:rPr>
              <a:t> 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 b="0" i="0" dirty="0">
                <a:solidFill>
                  <a:srgbClr val="151618"/>
                </a:solidFill>
                <a:latin typeface="Calibri"/>
                <a:cs typeface="Calibri"/>
              </a:rPr>
              <a:t> </a:t>
            </a:r>
          </a:p>
          <a:p>
            <a:pPr marL="128016" indent="-128016" algn="l">
              <a:lnSpc>
                <a:spcPct val="108000"/>
              </a:lnSpc>
              <a:spcBef>
                <a:spcPts val="120"/>
              </a:spcBef>
              <a:spcAft>
                <a:spcPts val="0"/>
              </a:spcAft>
              <a:buClr>
                <a:srgbClr val="6FD44B"/>
              </a:buClr>
              <a:buSzPct val="55000"/>
              <a:buFont typeface="Arial"/>
              <a:buChar char="•"/>
            </a:pPr>
            <a:r>
              <a:rPr lang="pt-BR" sz="1000" b="0" i="0" dirty="0">
                <a:solidFill>
                  <a:srgbClr val="151618"/>
                </a:solidFill>
                <a:latin typeface="Calibri"/>
                <a:cs typeface="Calibri"/>
              </a:rPr>
              <a:t>Loja C&amp;A Madureira</a:t>
            </a:r>
            <a:r>
              <a:rPr lang="pt-BR" sz="1000" b="0" i="0" dirty="0">
                <a:solidFill>
                  <a:srgbClr val="8A9295"/>
                </a:solidFill>
                <a:latin typeface="Calibri"/>
                <a:cs typeface="Calibri"/>
              </a:rPr>
              <a:t>  </a:t>
            </a:r>
          </a:p>
          <a:p>
            <a:pPr marL="128016" indent="-128016" algn="l">
              <a:lnSpc>
                <a:spcPct val="108000"/>
              </a:lnSpc>
              <a:spcBef>
                <a:spcPts val="120"/>
              </a:spcBef>
              <a:spcAft>
                <a:spcPts val="0"/>
              </a:spcAft>
              <a:buClr>
                <a:srgbClr val="6FD44B"/>
              </a:buClr>
              <a:buSzPct val="55000"/>
              <a:buFont typeface="Arial"/>
              <a:buChar char="•"/>
            </a:pPr>
            <a:r>
              <a:rPr lang="pt-BR" sz="1000" b="0" i="0" dirty="0">
                <a:solidFill>
                  <a:srgbClr val="151618"/>
                </a:solidFill>
                <a:latin typeface="Calibri"/>
                <a:cs typeface="Calibri"/>
              </a:rPr>
              <a:t>Hosp. Pró Cardíaco</a:t>
            </a:r>
            <a:r>
              <a:rPr lang="pt-BR" sz="1000" b="0" i="0" dirty="0">
                <a:solidFill>
                  <a:srgbClr val="8A9295"/>
                </a:solidFill>
                <a:latin typeface="Calibri"/>
                <a:cs typeface="Calibri"/>
              </a:rPr>
              <a:t>  </a:t>
            </a:r>
          </a:p>
          <a:p>
            <a:pPr marL="128016" indent="-128016" algn="l">
              <a:lnSpc>
                <a:spcPct val="108000"/>
              </a:lnSpc>
              <a:spcBef>
                <a:spcPts val="120"/>
              </a:spcBef>
              <a:spcAft>
                <a:spcPts val="0"/>
              </a:spcAft>
              <a:buClr>
                <a:srgbClr val="6FD44B"/>
              </a:buClr>
              <a:buSzPct val="55000"/>
              <a:buFont typeface="Arial"/>
              <a:buChar char="•"/>
            </a:pPr>
            <a:r>
              <a:rPr lang="pt-BR" sz="1000" b="0" i="0" dirty="0">
                <a:solidFill>
                  <a:srgbClr val="151618"/>
                </a:solidFill>
                <a:latin typeface="Calibri"/>
                <a:cs typeface="Calibri"/>
              </a:rPr>
              <a:t>Terr Hosp Pró Cardíaco</a:t>
            </a:r>
            <a:r>
              <a:rPr lang="pt-BR" sz="1000" b="0" i="0" dirty="0">
                <a:solidFill>
                  <a:srgbClr val="8A9295"/>
                </a:solidFill>
                <a:latin typeface="Calibri"/>
                <a:cs typeface="Calibri"/>
              </a:rPr>
              <a:t>  </a:t>
            </a:r>
          </a:p>
          <a:p>
            <a:pPr marL="128016" indent="-128016" algn="l">
              <a:lnSpc>
                <a:spcPct val="108000"/>
              </a:lnSpc>
              <a:spcBef>
                <a:spcPts val="120"/>
              </a:spcBef>
              <a:spcAft>
                <a:spcPts val="0"/>
              </a:spcAft>
              <a:buClr>
                <a:srgbClr val="6FD44B"/>
              </a:buClr>
              <a:buSzPct val="55000"/>
              <a:buFont typeface="Arial"/>
              <a:buChar char="•"/>
            </a:pPr>
            <a:r>
              <a:rPr lang="pt-BR" sz="1000" b="0" i="0" dirty="0">
                <a:solidFill>
                  <a:srgbClr val="151618"/>
                </a:solidFill>
                <a:latin typeface="Calibri"/>
                <a:cs typeface="Calibri"/>
              </a:rPr>
              <a:t>Hosp Pró Cardíaco - Galpão</a:t>
            </a:r>
            <a:r>
              <a:rPr lang="pt-BR" sz="1000" b="0" i="0" dirty="0">
                <a:solidFill>
                  <a:srgbClr val="8A9295"/>
                </a:solidFill>
                <a:latin typeface="Calibri"/>
                <a:cs typeface="Calibri"/>
              </a:rPr>
              <a:t>  </a:t>
            </a:r>
          </a:p>
          <a:p>
            <a:pPr marL="128016" indent="-128016" algn="l">
              <a:lnSpc>
                <a:spcPct val="108000"/>
              </a:lnSpc>
              <a:spcBef>
                <a:spcPts val="120"/>
              </a:spcBef>
              <a:spcAft>
                <a:spcPts val="0"/>
              </a:spcAft>
              <a:buClr>
                <a:srgbClr val="6FD44B"/>
              </a:buClr>
              <a:buSzPct val="55000"/>
              <a:buFont typeface="Arial"/>
              <a:buChar char="•"/>
            </a:pPr>
            <a:r>
              <a:rPr lang="pt-BR" sz="1000" b="0" i="0" dirty="0">
                <a:solidFill>
                  <a:srgbClr val="151618"/>
                </a:solidFill>
                <a:latin typeface="Calibri"/>
                <a:cs typeface="Calibri"/>
              </a:rPr>
              <a:t>Hosp Prevent Senior Havaí</a:t>
            </a:r>
            <a:r>
              <a:rPr lang="pt-BR" sz="1000" b="0" i="0" dirty="0">
                <a:solidFill>
                  <a:srgbClr val="8A9295"/>
                </a:solidFill>
                <a:latin typeface="Calibri"/>
                <a:cs typeface="Calibri"/>
              </a:rPr>
              <a:t>  </a:t>
            </a:r>
          </a:p>
          <a:p>
            <a:pPr marL="128016" indent="-128016" algn="l">
              <a:lnSpc>
                <a:spcPct val="108000"/>
              </a:lnSpc>
              <a:spcBef>
                <a:spcPts val="120"/>
              </a:spcBef>
              <a:spcAft>
                <a:spcPts val="0"/>
              </a:spcAft>
              <a:buClr>
                <a:srgbClr val="6FD44B"/>
              </a:buClr>
              <a:buSzPct val="55000"/>
              <a:buFont typeface="Arial"/>
              <a:buChar char="•"/>
            </a:pPr>
            <a:r>
              <a:rPr lang="pt-BR" sz="1000" b="0" i="0" dirty="0">
                <a:solidFill>
                  <a:srgbClr val="151618"/>
                </a:solidFill>
                <a:latin typeface="Calibri"/>
                <a:cs typeface="Calibri"/>
              </a:rPr>
              <a:t>Hosp Quinta D'</a:t>
            </a:r>
            <a:r>
              <a:rPr lang="pt-BR" sz="1000" b="0" i="0" dirty="0" err="1">
                <a:solidFill>
                  <a:srgbClr val="151618"/>
                </a:solidFill>
                <a:latin typeface="Calibri"/>
                <a:cs typeface="Calibri"/>
              </a:rPr>
              <a:t>Or</a:t>
            </a:r>
            <a:r>
              <a:rPr lang="pt-BR" sz="1000" b="0" i="0" dirty="0">
                <a:solidFill>
                  <a:srgbClr val="8A9295"/>
                </a:solidFill>
                <a:latin typeface="Calibri"/>
                <a:cs typeface="Calibri"/>
              </a:rPr>
              <a:t>  </a:t>
            </a:r>
          </a:p>
          <a:p>
            <a:pPr marL="128016" indent="-128016" algn="l">
              <a:lnSpc>
                <a:spcPct val="108000"/>
              </a:lnSpc>
              <a:spcBef>
                <a:spcPts val="120"/>
              </a:spcBef>
              <a:spcAft>
                <a:spcPts val="0"/>
              </a:spcAft>
              <a:buClr>
                <a:srgbClr val="6FD44B"/>
              </a:buClr>
              <a:buSzPct val="55000"/>
              <a:buFont typeface="Arial"/>
              <a:buChar char="•"/>
            </a:pPr>
            <a:r>
              <a:rPr lang="pt-BR" sz="1000" b="0" i="0" dirty="0">
                <a:solidFill>
                  <a:srgbClr val="151618"/>
                </a:solidFill>
                <a:latin typeface="Calibri"/>
                <a:cs typeface="Calibri"/>
              </a:rPr>
              <a:t>Hosp. Glória D'</a:t>
            </a:r>
            <a:r>
              <a:rPr lang="pt-BR" sz="1000" b="0" i="0" dirty="0" err="1">
                <a:solidFill>
                  <a:srgbClr val="151618"/>
                </a:solidFill>
                <a:latin typeface="Calibri"/>
                <a:cs typeface="Calibri"/>
              </a:rPr>
              <a:t>Or</a:t>
            </a:r>
            <a:r>
              <a:rPr lang="pt-BR" sz="1000" b="0" i="0" dirty="0">
                <a:solidFill>
                  <a:srgbClr val="8A9295"/>
                </a:solidFill>
                <a:latin typeface="Calibri"/>
                <a:cs typeface="Calibri"/>
              </a:rPr>
              <a:t>  </a:t>
            </a:r>
          </a:p>
          <a:p>
            <a:pPr marL="128016" indent="-128016" algn="l">
              <a:lnSpc>
                <a:spcPct val="108000"/>
              </a:lnSpc>
              <a:spcBef>
                <a:spcPts val="120"/>
              </a:spcBef>
              <a:spcAft>
                <a:spcPts val="0"/>
              </a:spcAft>
              <a:buClr>
                <a:srgbClr val="6FD44B"/>
              </a:buClr>
              <a:buSzPct val="55000"/>
              <a:buFont typeface="Arial"/>
              <a:buChar char="•"/>
            </a:pPr>
            <a:r>
              <a:rPr lang="pt-BR" sz="1000" b="0" i="0" dirty="0">
                <a:solidFill>
                  <a:srgbClr val="151618"/>
                </a:solidFill>
                <a:latin typeface="Calibri"/>
                <a:cs typeface="Calibri"/>
              </a:rPr>
              <a:t>Banco BBD São Cristóvão</a:t>
            </a:r>
            <a:r>
              <a:rPr lang="pt-BR" sz="1000" b="0" i="0" dirty="0">
                <a:solidFill>
                  <a:srgbClr val="8A9295"/>
                </a:solidFill>
                <a:latin typeface="Calibri"/>
                <a:cs typeface="Calibri"/>
              </a:rPr>
              <a:t>  </a:t>
            </a:r>
            <a:endParaRPr lang="pt-BR" sz="1000" b="0" i="0" dirty="0" smtClean="0">
              <a:solidFill>
                <a:srgbClr val="8A9295"/>
              </a:solidFill>
              <a:latin typeface="Calibri"/>
              <a:cs typeface="Calibri"/>
            </a:endParaRPr>
          </a:p>
          <a:p>
            <a:pPr marL="128016" indent="-128016" algn="l">
              <a:lnSpc>
                <a:spcPct val="108000"/>
              </a:lnSpc>
              <a:spcBef>
                <a:spcPts val="120"/>
              </a:spcBef>
              <a:spcAft>
                <a:spcPts val="0"/>
              </a:spcAft>
              <a:buClr>
                <a:srgbClr val="6FD44B"/>
              </a:buClr>
              <a:buSzPct val="55000"/>
              <a:buFont typeface="Arial"/>
              <a:buChar char="•"/>
            </a:pPr>
            <a:r>
              <a:rPr lang="pt-BR" sz="1000" b="0" i="0" dirty="0" err="1" smtClean="0">
                <a:solidFill>
                  <a:srgbClr val="151618"/>
                </a:solidFill>
                <a:latin typeface="Calibri"/>
                <a:cs typeface="Calibri"/>
              </a:rPr>
              <a:t>Terr</a:t>
            </a:r>
            <a:r>
              <a:rPr lang="pt-BR" sz="1000" b="0" i="0" dirty="0" smtClean="0">
                <a:solidFill>
                  <a:srgbClr val="151618"/>
                </a:solidFill>
                <a:latin typeface="Calibri"/>
                <a:cs typeface="Calibri"/>
              </a:rPr>
              <a:t> </a:t>
            </a:r>
            <a:r>
              <a:rPr lang="pt-BR" sz="1000" b="0" i="0" dirty="0" err="1" smtClean="0">
                <a:solidFill>
                  <a:srgbClr val="151618"/>
                </a:solidFill>
                <a:latin typeface="Calibri"/>
                <a:cs typeface="Calibri"/>
              </a:rPr>
              <a:t>Hosp</a:t>
            </a:r>
            <a:r>
              <a:rPr lang="pt-BR" sz="1000" b="0" i="0" dirty="0" smtClean="0">
                <a:solidFill>
                  <a:srgbClr val="151618"/>
                </a:solidFill>
                <a:latin typeface="Calibri"/>
                <a:cs typeface="Calibri"/>
              </a:rPr>
              <a:t> Glória D'</a:t>
            </a:r>
            <a:r>
              <a:rPr lang="pt-BR" sz="1000" b="0" i="0" dirty="0" err="1" smtClean="0">
                <a:solidFill>
                  <a:srgbClr val="151618"/>
                </a:solidFill>
                <a:latin typeface="Calibri"/>
                <a:cs typeface="Calibri"/>
              </a:rPr>
              <a:t>Or</a:t>
            </a:r>
            <a:r>
              <a:rPr lang="pt-BR" sz="1000" b="0" i="0" dirty="0" smtClean="0">
                <a:solidFill>
                  <a:srgbClr val="151618"/>
                </a:solidFill>
                <a:latin typeface="Calibri"/>
                <a:cs typeface="Calibri"/>
              </a:rPr>
              <a:t> II</a:t>
            </a:r>
            <a:r>
              <a:rPr lang="pt-BR" sz="1000" b="0" i="0" dirty="0" smtClean="0">
                <a:solidFill>
                  <a:srgbClr val="8A9295"/>
                </a:solidFill>
                <a:latin typeface="Calibri"/>
                <a:cs typeface="Calibri"/>
              </a:rPr>
              <a:t>  </a:t>
            </a:r>
            <a:endParaRPr lang="pt-BR" sz="1000" b="0" i="0" dirty="0">
              <a:solidFill>
                <a:srgbClr val="8A9295"/>
              </a:solidFill>
              <a:latin typeface="Calibri"/>
              <a:cs typeface="Calibri"/>
            </a:endParaRPr>
          </a:p>
        </p:txBody>
      </p:sp>
      <p:sp>
        <p:nvSpPr>
          <p:cNvPr id="116" name="txt115"/>
          <p:cNvSpPr txBox="1"/>
          <p:nvPr/>
        </p:nvSpPr>
        <p:spPr>
          <a:xfrm>
            <a:off x="1051560" y="6378004"/>
            <a:ext cx="6629400" cy="29260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50" b="0" i="1" dirty="0">
                <a:solidFill>
                  <a:srgbClr val="5C6366"/>
                </a:solidFill>
                <a:latin typeface="Calibri"/>
                <a:cs typeface="Calibri"/>
              </a:rPr>
              <a:t>34 de 38 garagens do total operado no semestre.</a:t>
            </a:r>
          </a:p>
        </p:txBody>
      </p:sp>
      <p:sp>
        <p:nvSpPr>
          <p:cNvPr id="118" name="sh117"/>
          <p:cNvSpPr/>
          <p:nvPr/>
        </p:nvSpPr>
        <p:spPr>
          <a:xfrm>
            <a:off x="8261604" y="1417320"/>
            <a:ext cx="3182112" cy="5074920"/>
          </a:xfrm>
          <a:prstGeom prst="roundRect">
            <a:avLst>
              <a:gd name="adj" fmla="val 3200"/>
            </a:avLst>
          </a:prstGeom>
          <a:solidFill>
            <a:srgbClr val="FBEAEA"/>
          </a:solidFill>
          <a:ln>
            <a:noFill/>
          </a:ln>
        </p:spPr>
        <p:txBody>
          <a:bodyPr wrap="square" lIns="128016" tIns="91440" rIns="128016" bIns="9144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txt119"/>
          <p:cNvSpPr txBox="1"/>
          <p:nvPr/>
        </p:nvSpPr>
        <p:spPr>
          <a:xfrm>
            <a:off x="8485632" y="1600200"/>
            <a:ext cx="2194560" cy="4572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100" b="1" i="0" spc="40" dirty="0">
                <a:solidFill>
                  <a:srgbClr val="D64550"/>
                </a:solidFill>
                <a:latin typeface="Calibri"/>
                <a:cs typeface="Calibri"/>
              </a:rPr>
              <a:t>OFF ROAD</a:t>
            </a:r>
          </a:p>
        </p:txBody>
      </p:sp>
      <p:sp>
        <p:nvSpPr>
          <p:cNvPr id="122" name="sh121"/>
          <p:cNvSpPr/>
          <p:nvPr/>
        </p:nvSpPr>
        <p:spPr>
          <a:xfrm>
            <a:off x="10058400" y="1600200"/>
            <a:ext cx="1417320" cy="365760"/>
          </a:xfrm>
          <a:prstGeom prst="roundRect">
            <a:avLst>
              <a:gd name="adj" fmla="val 50000"/>
            </a:avLst>
          </a:prstGeom>
          <a:solidFill>
            <a:srgbClr val="151618"/>
          </a:solidFill>
          <a:ln>
            <a:noFill/>
          </a:ln>
        </p:spPr>
        <p:txBody>
          <a:bodyPr wrap="square" lIns="45720" tIns="0" rIns="4572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 b="1" dirty="0">
                <a:solidFill>
                  <a:srgbClr val="FFFFFF"/>
                </a:solidFill>
                <a:latin typeface="Calibri"/>
                <a:cs typeface="Calibri"/>
              </a:rPr>
              <a:t>7</a:t>
            </a:r>
            <a:r>
              <a:rPr lang="pt-BR" sz="1000" b="1" i="0" dirty="0" smtClean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pt-BR" sz="1000" b="1" i="0" dirty="0">
                <a:solidFill>
                  <a:srgbClr val="FFFFFF"/>
                </a:solidFill>
                <a:latin typeface="Calibri"/>
                <a:cs typeface="Calibri"/>
              </a:rPr>
              <a:t>unidades</a:t>
            </a:r>
          </a:p>
        </p:txBody>
      </p:sp>
      <p:sp>
        <p:nvSpPr>
          <p:cNvPr id="124" name="txt123"/>
          <p:cNvSpPr txBox="1"/>
          <p:nvPr/>
        </p:nvSpPr>
        <p:spPr>
          <a:xfrm>
            <a:off x="8261604" y="2209725"/>
            <a:ext cx="3182112" cy="20116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164592" indent="-164592" algn="l">
              <a:lnSpc>
                <a:spcPct val="124000"/>
              </a:lnSpc>
              <a:spcBef>
                <a:spcPts val="1000"/>
              </a:spcBef>
              <a:spcAft>
                <a:spcPts val="0"/>
              </a:spcAft>
              <a:buClr>
                <a:srgbClr val="D64550"/>
              </a:buClr>
              <a:buSzPct val="55000"/>
              <a:buFont typeface="Arial"/>
              <a:buChar char="•"/>
            </a:pPr>
            <a:r>
              <a:rPr lang="pt-BR" sz="1250" b="0" i="0" dirty="0">
                <a:solidFill>
                  <a:srgbClr val="151618"/>
                </a:solidFill>
                <a:latin typeface="Calibri"/>
                <a:cs typeface="Calibri"/>
              </a:rPr>
              <a:t>Banco BBD Duque de </a:t>
            </a:r>
            <a:r>
              <a:rPr lang="pt-BR" sz="1250" b="0" i="0" dirty="0" smtClean="0">
                <a:solidFill>
                  <a:srgbClr val="151618"/>
                </a:solidFill>
                <a:latin typeface="Calibri"/>
                <a:cs typeface="Calibri"/>
              </a:rPr>
              <a:t>Caxias -  </a:t>
            </a:r>
            <a:r>
              <a:rPr lang="pt-BR" sz="1250" b="0" i="0" dirty="0" smtClean="0">
                <a:solidFill>
                  <a:srgbClr val="151618"/>
                </a:solidFill>
                <a:latin typeface="Calibri"/>
                <a:cs typeface="Calibri"/>
              </a:rPr>
              <a:t>(Intrajornada/</a:t>
            </a:r>
            <a:r>
              <a:rPr lang="pt-BR" sz="1250" b="0" i="0" dirty="0" err="1" smtClean="0">
                <a:solidFill>
                  <a:srgbClr val="151618"/>
                </a:solidFill>
                <a:latin typeface="Calibri"/>
                <a:cs typeface="Calibri"/>
              </a:rPr>
              <a:t>Fev</a:t>
            </a:r>
            <a:r>
              <a:rPr lang="pt-BR" sz="1250" b="0" i="0" dirty="0" smtClean="0">
                <a:solidFill>
                  <a:srgbClr val="151618"/>
                </a:solidFill>
                <a:latin typeface="Calibri"/>
                <a:cs typeface="Calibri"/>
              </a:rPr>
              <a:t>)</a:t>
            </a:r>
            <a:endParaRPr lang="pt-BR" sz="1250" b="0" i="0" dirty="0">
              <a:solidFill>
                <a:srgbClr val="151618"/>
              </a:solidFill>
              <a:latin typeface="Calibri"/>
              <a:cs typeface="Calibri"/>
            </a:endParaRPr>
          </a:p>
          <a:p>
            <a:pPr marL="164592" indent="-164592" algn="l">
              <a:lnSpc>
                <a:spcPct val="124000"/>
              </a:lnSpc>
              <a:spcBef>
                <a:spcPts val="1000"/>
              </a:spcBef>
              <a:spcAft>
                <a:spcPts val="0"/>
              </a:spcAft>
              <a:buClr>
                <a:srgbClr val="D64550"/>
              </a:buClr>
              <a:buSzPct val="55000"/>
              <a:buFont typeface="Arial"/>
              <a:buChar char="•"/>
            </a:pPr>
            <a:r>
              <a:rPr lang="pt-BR" sz="1250" b="0" i="0" dirty="0">
                <a:solidFill>
                  <a:srgbClr val="151618"/>
                </a:solidFill>
                <a:latin typeface="Calibri"/>
                <a:cs typeface="Calibri"/>
              </a:rPr>
              <a:t>Banco BBD </a:t>
            </a:r>
            <a:r>
              <a:rPr lang="pt-BR" sz="1250" b="0" i="0" dirty="0" smtClean="0">
                <a:solidFill>
                  <a:srgbClr val="151618"/>
                </a:solidFill>
                <a:latin typeface="Calibri"/>
                <a:cs typeface="Calibri"/>
              </a:rPr>
              <a:t>Jacarepaguá -  </a:t>
            </a:r>
            <a:r>
              <a:rPr lang="pt-BR" sz="1250" b="0" i="0" dirty="0" smtClean="0">
                <a:solidFill>
                  <a:srgbClr val="151618"/>
                </a:solidFill>
                <a:latin typeface="Calibri"/>
                <a:cs typeface="Calibri"/>
              </a:rPr>
              <a:t>(Prestação /</a:t>
            </a:r>
            <a:r>
              <a:rPr lang="pt-BR" sz="1250" b="0" i="0" dirty="0" err="1" smtClean="0">
                <a:solidFill>
                  <a:srgbClr val="151618"/>
                </a:solidFill>
                <a:latin typeface="Calibri"/>
                <a:cs typeface="Calibri"/>
              </a:rPr>
              <a:t>Fev</a:t>
            </a:r>
            <a:r>
              <a:rPr lang="pt-BR" sz="1250" b="0" i="0" dirty="0" smtClean="0">
                <a:solidFill>
                  <a:srgbClr val="151618"/>
                </a:solidFill>
                <a:latin typeface="Calibri"/>
                <a:cs typeface="Calibri"/>
              </a:rPr>
              <a:t>)</a:t>
            </a:r>
            <a:endParaRPr lang="pt-BR" sz="1250" b="0" i="0" dirty="0">
              <a:solidFill>
                <a:srgbClr val="151618"/>
              </a:solidFill>
              <a:latin typeface="Calibri"/>
              <a:cs typeface="Calibri"/>
            </a:endParaRPr>
          </a:p>
          <a:p>
            <a:pPr marL="164592" indent="-164592" algn="l">
              <a:lnSpc>
                <a:spcPct val="124000"/>
              </a:lnSpc>
              <a:spcBef>
                <a:spcPts val="1000"/>
              </a:spcBef>
              <a:spcAft>
                <a:spcPts val="0"/>
              </a:spcAft>
              <a:buClr>
                <a:srgbClr val="D64550"/>
              </a:buClr>
              <a:buSzPct val="55000"/>
              <a:buFont typeface="Arial"/>
              <a:buChar char="•"/>
            </a:pPr>
            <a:r>
              <a:rPr lang="pt-BR" sz="1250" b="0" i="0" dirty="0" smtClean="0">
                <a:solidFill>
                  <a:srgbClr val="151618"/>
                </a:solidFill>
                <a:latin typeface="Calibri"/>
                <a:cs typeface="Calibri"/>
              </a:rPr>
              <a:t>Hosp</a:t>
            </a:r>
            <a:r>
              <a:rPr lang="pt-BR" sz="1250" b="0" i="0" dirty="0">
                <a:solidFill>
                  <a:srgbClr val="151618"/>
                </a:solidFill>
                <a:latin typeface="Calibri"/>
                <a:cs typeface="Calibri"/>
              </a:rPr>
              <a:t>. </a:t>
            </a:r>
            <a:r>
              <a:rPr lang="pt-BR" sz="1250" b="0" i="0" dirty="0" smtClean="0">
                <a:solidFill>
                  <a:srgbClr val="151618"/>
                </a:solidFill>
                <a:latin typeface="Calibri"/>
                <a:cs typeface="Calibri"/>
              </a:rPr>
              <a:t>Caxias </a:t>
            </a:r>
            <a:r>
              <a:rPr lang="pt-BR" sz="1250" b="0" i="0" dirty="0" smtClean="0">
                <a:solidFill>
                  <a:srgbClr val="151618"/>
                </a:solidFill>
                <a:latin typeface="Calibri"/>
                <a:cs typeface="Calibri"/>
              </a:rPr>
              <a:t>D‘</a:t>
            </a:r>
            <a:r>
              <a:rPr lang="pt-BR" sz="1250" b="0" i="0" dirty="0" err="1" smtClean="0">
                <a:solidFill>
                  <a:srgbClr val="151618"/>
                </a:solidFill>
                <a:latin typeface="Calibri"/>
                <a:cs typeface="Calibri"/>
              </a:rPr>
              <a:t>or</a:t>
            </a:r>
            <a:r>
              <a:rPr lang="pt-BR" sz="1250" b="0" i="0" dirty="0" smtClean="0">
                <a:solidFill>
                  <a:srgbClr val="151618"/>
                </a:solidFill>
                <a:latin typeface="Calibri"/>
                <a:cs typeface="Calibri"/>
              </a:rPr>
              <a:t> -  </a:t>
            </a:r>
            <a:r>
              <a:rPr lang="pt-BR" sz="1250" b="0" i="0" dirty="0" smtClean="0">
                <a:solidFill>
                  <a:srgbClr val="151618"/>
                </a:solidFill>
                <a:latin typeface="Calibri"/>
                <a:cs typeface="Calibri"/>
              </a:rPr>
              <a:t>(Intrajornada /Mar)</a:t>
            </a:r>
          </a:p>
          <a:p>
            <a:pPr marL="164592" indent="-164592">
              <a:lnSpc>
                <a:spcPct val="124000"/>
              </a:lnSpc>
              <a:spcBef>
                <a:spcPts val="1000"/>
              </a:spcBef>
              <a:buClr>
                <a:srgbClr val="D64550"/>
              </a:buClr>
              <a:buSzPct val="55000"/>
              <a:buFont typeface="Arial"/>
              <a:buChar char="•"/>
            </a:pPr>
            <a:r>
              <a:rPr lang="pt-BR" sz="1200" dirty="0">
                <a:solidFill>
                  <a:srgbClr val="151618"/>
                </a:solidFill>
                <a:cs typeface="Calibri"/>
              </a:rPr>
              <a:t>Loja Power Center </a:t>
            </a:r>
            <a:r>
              <a:rPr lang="pt-BR" sz="1200" dirty="0" smtClean="0">
                <a:solidFill>
                  <a:srgbClr val="151618"/>
                </a:solidFill>
                <a:cs typeface="Calibri"/>
              </a:rPr>
              <a:t>LA -</a:t>
            </a:r>
            <a:r>
              <a:rPr lang="pt-BR" sz="1200" dirty="0" smtClean="0">
                <a:solidFill>
                  <a:srgbClr val="8A9295"/>
                </a:solidFill>
                <a:cs typeface="Calibri"/>
              </a:rPr>
              <a:t> </a:t>
            </a:r>
            <a:r>
              <a:rPr lang="pt-BR" sz="1200" dirty="0" smtClean="0">
                <a:cs typeface="Calibri"/>
              </a:rPr>
              <a:t>(Intrajornada/Mar</a:t>
            </a:r>
            <a:r>
              <a:rPr lang="pt-BR" sz="1200" dirty="0" smtClean="0">
                <a:cs typeface="Calibri"/>
              </a:rPr>
              <a:t>)</a:t>
            </a:r>
            <a:endParaRPr lang="pt-BR" sz="1200" dirty="0">
              <a:cs typeface="Calibri"/>
            </a:endParaRPr>
          </a:p>
          <a:p>
            <a:pPr marL="164592" indent="-164592">
              <a:lnSpc>
                <a:spcPct val="124000"/>
              </a:lnSpc>
              <a:spcBef>
                <a:spcPts val="1000"/>
              </a:spcBef>
              <a:buClr>
                <a:srgbClr val="D64550"/>
              </a:buClr>
              <a:buSzPct val="55000"/>
              <a:buFont typeface="Arial"/>
              <a:buChar char="•"/>
            </a:pPr>
            <a:r>
              <a:rPr lang="pt-BR" sz="1250" dirty="0">
                <a:solidFill>
                  <a:srgbClr val="151618"/>
                </a:solidFill>
                <a:cs typeface="Calibri"/>
              </a:rPr>
              <a:t>Ed Com </a:t>
            </a:r>
            <a:r>
              <a:rPr lang="pt-BR" sz="1250" dirty="0" smtClean="0">
                <a:solidFill>
                  <a:srgbClr val="151618"/>
                </a:solidFill>
                <a:cs typeface="Calibri"/>
              </a:rPr>
              <a:t>CEB - (intrajornada / Jan)</a:t>
            </a:r>
          </a:p>
          <a:p>
            <a:pPr marL="164592" indent="-164592">
              <a:lnSpc>
                <a:spcPct val="124000"/>
              </a:lnSpc>
              <a:spcBef>
                <a:spcPts val="1000"/>
              </a:spcBef>
              <a:buClr>
                <a:srgbClr val="D64550"/>
              </a:buClr>
              <a:buSzPct val="55000"/>
              <a:buFont typeface="Arial"/>
              <a:buChar char="•"/>
            </a:pPr>
            <a:r>
              <a:rPr lang="pt-BR" sz="1250" dirty="0" smtClean="0">
                <a:solidFill>
                  <a:srgbClr val="151618"/>
                </a:solidFill>
                <a:cs typeface="Calibri"/>
              </a:rPr>
              <a:t>Ed Com </a:t>
            </a:r>
            <a:r>
              <a:rPr lang="pt-BR" sz="1250" dirty="0" err="1" smtClean="0">
                <a:solidFill>
                  <a:srgbClr val="151618"/>
                </a:solidFill>
                <a:cs typeface="Calibri"/>
              </a:rPr>
              <a:t>Visc</a:t>
            </a:r>
            <a:r>
              <a:rPr lang="pt-BR" sz="1250" dirty="0" smtClean="0">
                <a:solidFill>
                  <a:srgbClr val="151618"/>
                </a:solidFill>
                <a:cs typeface="Calibri"/>
              </a:rPr>
              <a:t> Ouro Preto (CEVOP) – (+ de 2HE em Jan e Intrajornada + </a:t>
            </a:r>
            <a:r>
              <a:rPr lang="pt-BR" sz="1250" dirty="0" err="1" smtClean="0">
                <a:solidFill>
                  <a:srgbClr val="151618"/>
                </a:solidFill>
                <a:cs typeface="Calibri"/>
              </a:rPr>
              <a:t>Interjornada</a:t>
            </a:r>
            <a:r>
              <a:rPr lang="pt-BR" sz="1250" dirty="0" smtClean="0">
                <a:solidFill>
                  <a:srgbClr val="151618"/>
                </a:solidFill>
                <a:cs typeface="Calibri"/>
              </a:rPr>
              <a:t> em </a:t>
            </a:r>
            <a:r>
              <a:rPr lang="pt-BR" sz="1250" dirty="0" err="1" smtClean="0">
                <a:solidFill>
                  <a:srgbClr val="151618"/>
                </a:solidFill>
                <a:cs typeface="Calibri"/>
              </a:rPr>
              <a:t>Fev</a:t>
            </a:r>
            <a:r>
              <a:rPr lang="pt-BR" sz="1250" dirty="0" smtClean="0">
                <a:solidFill>
                  <a:srgbClr val="151618"/>
                </a:solidFill>
                <a:cs typeface="Calibri"/>
              </a:rPr>
              <a:t>)</a:t>
            </a:r>
            <a:endParaRPr lang="pt-BR" sz="1250" dirty="0">
              <a:solidFill>
                <a:srgbClr val="151618"/>
              </a:solidFill>
              <a:cs typeface="Calibri"/>
            </a:endParaRPr>
          </a:p>
          <a:p>
            <a:pPr marL="164592" indent="-164592">
              <a:lnSpc>
                <a:spcPct val="124000"/>
              </a:lnSpc>
              <a:spcBef>
                <a:spcPts val="1000"/>
              </a:spcBef>
              <a:buClr>
                <a:srgbClr val="D64550"/>
              </a:buClr>
              <a:buSzPct val="55000"/>
              <a:buFont typeface="Arial"/>
              <a:buChar char="•"/>
            </a:pPr>
            <a:r>
              <a:rPr lang="pt-BR" sz="1250" dirty="0">
                <a:solidFill>
                  <a:srgbClr val="151618"/>
                </a:solidFill>
                <a:cs typeface="Calibri"/>
              </a:rPr>
              <a:t>Shop Jardim </a:t>
            </a:r>
            <a:r>
              <a:rPr lang="pt-BR" sz="1250" dirty="0" smtClean="0">
                <a:solidFill>
                  <a:srgbClr val="151618"/>
                </a:solidFill>
                <a:cs typeface="Calibri"/>
              </a:rPr>
              <a:t>Norte - </a:t>
            </a:r>
            <a:endParaRPr lang="pt-BR" sz="1250" dirty="0">
              <a:solidFill>
                <a:srgbClr val="151618"/>
              </a:solidFill>
              <a:cs typeface="Calibri"/>
            </a:endParaRPr>
          </a:p>
          <a:p>
            <a:pPr marL="164592" indent="-164592" algn="l">
              <a:lnSpc>
                <a:spcPct val="124000"/>
              </a:lnSpc>
              <a:spcBef>
                <a:spcPts val="1000"/>
              </a:spcBef>
              <a:spcAft>
                <a:spcPts val="0"/>
              </a:spcAft>
              <a:buClr>
                <a:srgbClr val="D64550"/>
              </a:buClr>
              <a:buSzPct val="55000"/>
              <a:buFont typeface="Arial"/>
              <a:buChar char="•"/>
            </a:pPr>
            <a:endParaRPr lang="pt-BR" sz="1250" b="0" i="0" dirty="0">
              <a:solidFill>
                <a:srgbClr val="151618"/>
              </a:solidFill>
              <a:latin typeface="Calibri"/>
              <a:cs typeface="Calibri"/>
            </a:endParaRPr>
          </a:p>
        </p:txBody>
      </p:sp>
      <p:sp>
        <p:nvSpPr>
          <p:cNvPr id="126" name="txt125"/>
          <p:cNvSpPr txBox="1"/>
          <p:nvPr/>
        </p:nvSpPr>
        <p:spPr>
          <a:xfrm>
            <a:off x="8485632" y="5870448"/>
            <a:ext cx="2679192" cy="5029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50" b="0" i="1" dirty="0">
                <a:solidFill>
                  <a:srgbClr val="5C6366"/>
                </a:solidFill>
                <a:latin typeface="Calibri"/>
                <a:cs typeface="Calibri"/>
              </a:rPr>
              <a:t>4 de 38 garagens do total operado no semestre.</a:t>
            </a:r>
          </a:p>
        </p:txBody>
      </p:sp>
    </p:spTree>
    <p:extLst>
      <p:ext uri="{BB962C8B-B14F-4D97-AF65-F5344CB8AC3E}">
        <p14:creationId xmlns:p14="http://schemas.microsoft.com/office/powerpoint/2010/main" val="19404270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txt591"/>
          <p:cNvSpPr txBox="1"/>
          <p:nvPr/>
        </p:nvSpPr>
        <p:spPr>
          <a:xfrm>
            <a:off x="804672" y="1444752"/>
            <a:ext cx="3200400" cy="29260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50" b="1" i="0" cap="all" spc="170" dirty="0">
                <a:solidFill>
                  <a:srgbClr val="6FD44B"/>
                </a:solidFill>
                <a:latin typeface="Calibri"/>
                <a:cs typeface="Calibri"/>
              </a:rPr>
              <a:t>Próximo passo</a:t>
            </a:r>
          </a:p>
        </p:txBody>
      </p:sp>
      <p:sp>
        <p:nvSpPr>
          <p:cNvPr id="594" name="txt593"/>
          <p:cNvSpPr txBox="1"/>
          <p:nvPr/>
        </p:nvSpPr>
        <p:spPr>
          <a:xfrm>
            <a:off x="777240" y="1810512"/>
            <a:ext cx="3337560" cy="146304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500" b="1" dirty="0" smtClean="0">
                <a:solidFill>
                  <a:srgbClr val="FFFFFF"/>
                </a:solidFill>
                <a:latin typeface="Calibri"/>
                <a:cs typeface="Calibri"/>
              </a:rPr>
              <a:t>Faturamento</a:t>
            </a:r>
            <a:endParaRPr lang="pt-BR" sz="4500" b="1" i="0" dirty="0">
              <a:solidFill>
                <a:srgbClr val="FFFFFF"/>
              </a:solidFill>
              <a:latin typeface="Calibri"/>
              <a:cs typeface="Calibri"/>
            </a:endParaRPr>
          </a:p>
        </p:txBody>
      </p:sp>
      <p:sp>
        <p:nvSpPr>
          <p:cNvPr id="596" name="txt595"/>
          <p:cNvSpPr txBox="1"/>
          <p:nvPr/>
        </p:nvSpPr>
        <p:spPr>
          <a:xfrm>
            <a:off x="804672" y="3364992"/>
            <a:ext cx="3246120" cy="15544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None/>
            </a:pPr>
            <a:endParaRPr lang="pt-BR" sz="1350" b="1" i="0" dirty="0">
              <a:solidFill>
                <a:srgbClr val="73E0C1"/>
              </a:solidFill>
              <a:latin typeface="Calibri"/>
              <a:cs typeface="Calibri"/>
            </a:endParaRPr>
          </a:p>
        </p:txBody>
      </p:sp>
      <p:sp>
        <p:nvSpPr>
          <p:cNvPr id="5" name="txt105"/>
          <p:cNvSpPr txBox="1"/>
          <p:nvPr/>
        </p:nvSpPr>
        <p:spPr>
          <a:xfrm>
            <a:off x="804672" y="2743200"/>
            <a:ext cx="4206240" cy="38404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 smtClean="0">
                <a:solidFill>
                  <a:srgbClr val="73E0C1"/>
                </a:solidFill>
                <a:latin typeface="Calibri"/>
                <a:cs typeface="Calibri"/>
              </a:rPr>
              <a:t>Resultado 1ª semestre 2026</a:t>
            </a:r>
            <a:endParaRPr lang="pt-BR" sz="1600" b="1" i="0" dirty="0">
              <a:solidFill>
                <a:srgbClr val="73E0C1"/>
              </a:solidFill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219179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txt307"/>
          <p:cNvSpPr txBox="1"/>
          <p:nvPr/>
        </p:nvSpPr>
        <p:spPr>
          <a:xfrm>
            <a:off x="777240" y="457200"/>
            <a:ext cx="9052560" cy="71323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200" b="1" i="0" dirty="0" smtClean="0">
                <a:solidFill>
                  <a:srgbClr val="151618"/>
                </a:solidFill>
                <a:latin typeface="Calibri"/>
                <a:cs typeface="Calibri"/>
              </a:rPr>
              <a:t>Resultado 1ª semestre 2026</a:t>
            </a:r>
            <a:endParaRPr lang="pt-BR" sz="3200" b="1" i="0" dirty="0">
              <a:solidFill>
                <a:srgbClr val="151618"/>
              </a:solidFill>
              <a:latin typeface="Calibri"/>
              <a:cs typeface="Calibri"/>
            </a:endParaRPr>
          </a:p>
        </p:txBody>
      </p:sp>
      <p:sp>
        <p:nvSpPr>
          <p:cNvPr id="328" name="txt327"/>
          <p:cNvSpPr txBox="1"/>
          <p:nvPr/>
        </p:nvSpPr>
        <p:spPr>
          <a:xfrm>
            <a:off x="7178040" y="2066544"/>
            <a:ext cx="4023360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50" b="1" i="0" dirty="0">
                <a:solidFill>
                  <a:srgbClr val="FFFFFF"/>
                </a:solidFill>
                <a:latin typeface="Calibri"/>
                <a:cs typeface="Calibri"/>
              </a:rPr>
              <a:t>O que a empresa não vê</a:t>
            </a:r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551" y="1170431"/>
            <a:ext cx="11129829" cy="5325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62230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xt593"/>
          <p:cNvSpPr txBox="1"/>
          <p:nvPr/>
        </p:nvSpPr>
        <p:spPr>
          <a:xfrm>
            <a:off x="3353015" y="2621880"/>
            <a:ext cx="8134940" cy="268421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0" b="1" dirty="0" smtClean="0">
                <a:solidFill>
                  <a:srgbClr val="FFFFFF"/>
                </a:solidFill>
                <a:latin typeface="Calibri"/>
                <a:cs typeface="Calibri"/>
              </a:rPr>
              <a:t>Obrigado!</a:t>
            </a:r>
            <a:endParaRPr lang="pt-BR" sz="8000" b="1" i="0" dirty="0">
              <a:solidFill>
                <a:srgbClr val="FFFFFF"/>
              </a:solidFill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2394266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Personalizar design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3_Personalizar design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2_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2_Personalizar design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8296</TotalTime>
  <Words>1937</Words>
  <Application>Microsoft Office PowerPoint</Application>
  <PresentationFormat>Widescreen</PresentationFormat>
  <Paragraphs>200</Paragraphs>
  <Slides>14</Slides>
  <Notes>12</Notes>
  <HiddenSlides>0</HiddenSlides>
  <MMClips>1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5</vt:i4>
      </vt:variant>
      <vt:variant>
        <vt:lpstr>Títulos de slides</vt:lpstr>
      </vt:variant>
      <vt:variant>
        <vt:i4>14</vt:i4>
      </vt:variant>
    </vt:vector>
  </HeadingPairs>
  <TitlesOfParts>
    <vt:vector size="21" baseType="lpstr">
      <vt:lpstr>Arial</vt:lpstr>
      <vt:lpstr>Calibri</vt:lpstr>
      <vt:lpstr>Tema do Office</vt:lpstr>
      <vt:lpstr>Personalizar design</vt:lpstr>
      <vt:lpstr>3_Personalizar design</vt:lpstr>
      <vt:lpstr>2_Tema do Office</vt:lpstr>
      <vt:lpstr>2_Personalizar design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MÍDIA KIT</dc:title>
  <dc:creator>Diego Simoes</dc:creator>
  <cp:lastModifiedBy>Luis Fernando Franca</cp:lastModifiedBy>
  <cp:revision>531</cp:revision>
  <cp:lastPrinted>2023-01-09T21:52:25Z</cp:lastPrinted>
  <dcterms:created xsi:type="dcterms:W3CDTF">2019-12-09T14:58:41Z</dcterms:created>
  <dcterms:modified xsi:type="dcterms:W3CDTF">2026-08-05T21:17:09Z</dcterms:modified>
</cp:coreProperties>
</file>